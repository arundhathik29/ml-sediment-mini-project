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48" d="100"/>
          <a:sy n="48" d="100"/>
        </p:scale>
        <p:origin x="53" y="9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B2A38"/>
                </a:solidFill>
                <a:latin typeface="+mn-lt"/>
              </a:defRPr>
            </a:pPr>
            <a:r>
              <a:rPr lang="en-IN" sz="1400" b="0" i="0" u="none" strike="noStrike">
                <a:solidFill>
                  <a:srgbClr val="1B2A38"/>
                </a:solidFill>
                <a:latin typeface="+mn-lt"/>
              </a:rPr>
              <a:t>Random Forest impurity importance</a:t>
            </a:r>
          </a:p>
        </c:rich>
      </c:tx>
      <c:overlay val="0"/>
    </c:title>
    <c:autoTitleDeleted val="0"/>
    <c:plotArea>
      <c:layout/>
      <c:barChart>
        <c:barDir val="bar"/>
        <c:grouping val="clustered"/>
        <c:varyColors val="0"/>
        <c:ser>
          <c:idx val="0"/>
          <c:order val="0"/>
          <c:tx>
            <c:strRef>
              <c:f>Sheet1!$B$1</c:f>
              <c:strCache>
                <c:ptCount val="1"/>
                <c:pt idx="0">
                  <c:v>d50</c:v>
                </c:pt>
              </c:strCache>
            </c:strRef>
          </c:tx>
          <c:spPr>
            <a:solidFill>
              <a:srgbClr val="1F7A8C"/>
            </a:solidFill>
            <a:effectLst/>
          </c:spPr>
          <c:invertIfNegative val="0"/>
          <c:cat>
            <c:strRef>
              <c:f>Sheet1!$A$2:$A$9</c:f>
              <c:strCache>
                <c:ptCount val="8"/>
                <c:pt idx="0">
                  <c:v>Salinity</c:v>
                </c:pt>
                <c:pt idx="1">
                  <c:v>Temperature</c:v>
                </c:pt>
                <c:pt idx="2">
                  <c:v>Wave velocity</c:v>
                </c:pt>
                <c:pt idx="3">
                  <c:v>Refractive index</c:v>
                </c:pt>
                <c:pt idx="4">
                  <c:v>Tidal velocity</c:v>
                </c:pt>
                <c:pt idx="5">
                  <c:v>Chlorophyll-a</c:v>
                </c:pt>
                <c:pt idx="6">
                  <c:v>Detrital ratio</c:v>
                </c:pt>
                <c:pt idx="7">
                  <c:v>Algal ratio</c:v>
                </c:pt>
              </c:strCache>
            </c:strRef>
          </c:cat>
          <c:val>
            <c:numRef>
              <c:f>Sheet1!$B$2:$B$9</c:f>
              <c:numCache>
                <c:formatCode>General</c:formatCode>
                <c:ptCount val="8"/>
                <c:pt idx="0">
                  <c:v>0.318</c:v>
                </c:pt>
                <c:pt idx="1">
                  <c:v>0.33600000000000002</c:v>
                </c:pt>
                <c:pt idx="2">
                  <c:v>0.248</c:v>
                </c:pt>
                <c:pt idx="3">
                  <c:v>5.6000000000000001E-2</c:v>
                </c:pt>
                <c:pt idx="4">
                  <c:v>1.0999999999999999E-2</c:v>
                </c:pt>
                <c:pt idx="5">
                  <c:v>1.2999999999999999E-2</c:v>
                </c:pt>
                <c:pt idx="6">
                  <c:v>8.9999999999999993E-3</c:v>
                </c:pt>
                <c:pt idx="7">
                  <c:v>8.9999999999999993E-3</c:v>
                </c:pt>
              </c:numCache>
            </c:numRef>
          </c:val>
          <c:extLst>
            <c:ext xmlns:c16="http://schemas.microsoft.com/office/drawing/2014/chart" uri="{C3380CC4-5D6E-409C-BE32-E72D297353CC}">
              <c16:uniqueId val="{00000000-EB2C-4C9D-BA48-FE4104CB0DFB}"/>
            </c:ext>
          </c:extLst>
        </c:ser>
        <c:ser>
          <c:idx val="1"/>
          <c:order val="1"/>
          <c:tx>
            <c:strRef>
              <c:f>Sheet1!$C$1</c:f>
              <c:strCache>
                <c:ptCount val="1"/>
                <c:pt idx="0">
                  <c:v>σ²</c:v>
                </c:pt>
              </c:strCache>
            </c:strRef>
          </c:tx>
          <c:spPr>
            <a:solidFill>
              <a:srgbClr val="D1603D"/>
            </a:solidFill>
            <a:effectLst/>
          </c:spPr>
          <c:invertIfNegative val="0"/>
          <c:cat>
            <c:strRef>
              <c:f>Sheet1!$A$2:$A$9</c:f>
              <c:strCache>
                <c:ptCount val="8"/>
                <c:pt idx="0">
                  <c:v>Salinity</c:v>
                </c:pt>
                <c:pt idx="1">
                  <c:v>Temperature</c:v>
                </c:pt>
                <c:pt idx="2">
                  <c:v>Wave velocity</c:v>
                </c:pt>
                <c:pt idx="3">
                  <c:v>Refractive index</c:v>
                </c:pt>
                <c:pt idx="4">
                  <c:v>Tidal velocity</c:v>
                </c:pt>
                <c:pt idx="5">
                  <c:v>Chlorophyll-a</c:v>
                </c:pt>
                <c:pt idx="6">
                  <c:v>Detrital ratio</c:v>
                </c:pt>
                <c:pt idx="7">
                  <c:v>Algal ratio</c:v>
                </c:pt>
              </c:strCache>
            </c:strRef>
          </c:cat>
          <c:val>
            <c:numRef>
              <c:f>Sheet1!$C$2:$C$9</c:f>
              <c:numCache>
                <c:formatCode>General</c:formatCode>
                <c:ptCount val="8"/>
                <c:pt idx="0">
                  <c:v>0.56000000000000005</c:v>
                </c:pt>
                <c:pt idx="1">
                  <c:v>0.22500000000000001</c:v>
                </c:pt>
                <c:pt idx="2">
                  <c:v>0.158</c:v>
                </c:pt>
                <c:pt idx="3">
                  <c:v>2.5000000000000001E-2</c:v>
                </c:pt>
                <c:pt idx="4">
                  <c:v>1.0999999999999999E-2</c:v>
                </c:pt>
                <c:pt idx="5">
                  <c:v>8.0000000000000002E-3</c:v>
                </c:pt>
                <c:pt idx="6">
                  <c:v>7.0000000000000001E-3</c:v>
                </c:pt>
                <c:pt idx="7">
                  <c:v>6.0000000000000001E-3</c:v>
                </c:pt>
              </c:numCache>
            </c:numRef>
          </c:val>
          <c:extLst>
            <c:ext xmlns:c16="http://schemas.microsoft.com/office/drawing/2014/chart" uri="{C3380CC4-5D6E-409C-BE32-E72D297353CC}">
              <c16:uniqueId val="{00000001-EB2C-4C9D-BA48-FE4104CB0DFB}"/>
            </c:ext>
          </c:extLst>
        </c:ser>
        <c:dLbls>
          <c:showLegendKey val="0"/>
          <c:showVal val="0"/>
          <c:showCatName val="0"/>
          <c:showSerName val="0"/>
          <c:showPercent val="0"/>
          <c:showBubbleSize val="0"/>
        </c:dLbls>
        <c:gapWidth val="6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A38"/>
                </a:solidFill>
                <a:latin typeface="+mn-lt"/>
              </a:defRPr>
            </a:pPr>
            <a:endParaRPr lang="en-US"/>
          </a:p>
        </c:txPr>
        <c:crossAx val="2094734552"/>
        <c:crosses val="autoZero"/>
        <c:auto val="1"/>
        <c:lblAlgn val="ctr"/>
        <c:lblOffset val="100"/>
        <c:noMultiLvlLbl val="1"/>
      </c:catAx>
      <c:valAx>
        <c:axId val="2094734552"/>
        <c:scaling>
          <c:orientation val="minMax"/>
          <c:max val="0.6"/>
          <c:min val="0"/>
        </c:scaling>
        <c:delete val="0"/>
        <c:axPos val="t"/>
        <c:majorGridlines>
          <c:spPr>
            <a:ln w="6350" cap="flat">
              <a:solidFill>
                <a:srgbClr val="D9E1E7"/>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B7A"/>
                </a:solidFill>
                <a:latin typeface="+mn-lt"/>
              </a:defRPr>
            </a:pPr>
            <a:endParaRPr lang="en-US"/>
          </a:p>
        </c:txPr>
        <c:crossAx val="2094734554"/>
        <c:crosses val="autoZero"/>
        <c:crossBetween val="between"/>
        <c:majorUnit val="0.1"/>
      </c:valAx>
      <c:spPr>
        <a:noFill/>
        <a:ln>
          <a:noFill/>
        </a:ln>
        <a:effectLst/>
      </c:spPr>
    </c:plotArea>
    <c:legend>
      <c:legendPos val="b"/>
      <c:overlay val="0"/>
      <c:txPr>
        <a:bodyPr/>
        <a:lstStyle/>
        <a:p>
          <a:pPr>
            <a:defRPr sz="1200">
              <a:solidFill>
                <a:srgbClr val="1B2A38"/>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B2A38"/>
                </a:solidFill>
                <a:latin typeface="+mn-lt"/>
              </a:defRPr>
            </a:pPr>
            <a:r>
              <a:rPr lang="en-US" sz="1400" b="0" i="0" u="none" strike="noStrike">
                <a:solidFill>
                  <a:srgbClr val="1B2A38"/>
                </a:solidFill>
                <a:latin typeface="+mn-lt"/>
              </a:rPr>
              <a:t>Out-of-bag R² vs number of trees</a:t>
            </a:r>
          </a:p>
        </c:rich>
      </c:tx>
      <c:overlay val="0"/>
    </c:title>
    <c:autoTitleDeleted val="0"/>
    <c:plotArea>
      <c:layout/>
      <c:lineChart>
        <c:grouping val="standard"/>
        <c:varyColors val="0"/>
        <c:ser>
          <c:idx val="0"/>
          <c:order val="0"/>
          <c:tx>
            <c:strRef>
              <c:f>Sheet1!$B$1</c:f>
              <c:strCache>
                <c:ptCount val="1"/>
                <c:pt idx="0">
                  <c:v>d50</c:v>
                </c:pt>
              </c:strCache>
            </c:strRef>
          </c:tx>
          <c:spPr>
            <a:ln w="31750" cap="flat">
              <a:solidFill>
                <a:srgbClr val="1F7A8C"/>
              </a:solidFill>
              <a:prstDash val="solid"/>
              <a:round/>
            </a:ln>
            <a:effectLst/>
          </c:spPr>
          <c:marker>
            <c:symbol val="circle"/>
            <c:size val="8"/>
            <c:spPr>
              <a:solidFill>
                <a:srgbClr val="1F7A8C"/>
              </a:solidFill>
              <a:ln w="9525" cap="flat">
                <a:solidFill>
                  <a:srgbClr val="1F7A8C"/>
                </a:solidFill>
                <a:prstDash val="solid"/>
                <a:round/>
              </a:ln>
              <a:effectLst/>
            </c:spPr>
          </c:marker>
          <c:cat>
            <c:strRef>
              <c:f>Sheet1!$A$2:$A$7</c:f>
              <c:strCache>
                <c:ptCount val="6"/>
                <c:pt idx="0">
                  <c:v>10</c:v>
                </c:pt>
                <c:pt idx="1">
                  <c:v>20</c:v>
                </c:pt>
                <c:pt idx="2">
                  <c:v>30</c:v>
                </c:pt>
                <c:pt idx="3">
                  <c:v>50</c:v>
                </c:pt>
                <c:pt idx="4">
                  <c:v>100</c:v>
                </c:pt>
                <c:pt idx="5">
                  <c:v>200</c:v>
                </c:pt>
              </c:strCache>
            </c:strRef>
          </c:cat>
          <c:val>
            <c:numRef>
              <c:f>Sheet1!$B$2:$B$7</c:f>
              <c:numCache>
                <c:formatCode>General</c:formatCode>
                <c:ptCount val="6"/>
                <c:pt idx="0">
                  <c:v>0.73</c:v>
                </c:pt>
                <c:pt idx="1">
                  <c:v>0.89100000000000001</c:v>
                </c:pt>
                <c:pt idx="2">
                  <c:v>0.89700000000000002</c:v>
                </c:pt>
                <c:pt idx="3">
                  <c:v>0.9</c:v>
                </c:pt>
                <c:pt idx="4">
                  <c:v>0.90300000000000002</c:v>
                </c:pt>
                <c:pt idx="5">
                  <c:v>0.90500000000000003</c:v>
                </c:pt>
              </c:numCache>
            </c:numRef>
          </c:val>
          <c:smooth val="0"/>
          <c:extLst>
            <c:ext xmlns:c16="http://schemas.microsoft.com/office/drawing/2014/chart" uri="{C3380CC4-5D6E-409C-BE32-E72D297353CC}">
              <c16:uniqueId val="{00000000-584D-4BB2-AE87-2451250C5A8A}"/>
            </c:ext>
          </c:extLst>
        </c:ser>
        <c:ser>
          <c:idx val="1"/>
          <c:order val="1"/>
          <c:tx>
            <c:strRef>
              <c:f>Sheet1!$C$1</c:f>
              <c:strCache>
                <c:ptCount val="1"/>
                <c:pt idx="0">
                  <c:v>σ²</c:v>
                </c:pt>
              </c:strCache>
            </c:strRef>
          </c:tx>
          <c:spPr>
            <a:ln w="31750" cap="flat">
              <a:solidFill>
                <a:srgbClr val="D1603D"/>
              </a:solidFill>
              <a:prstDash val="solid"/>
              <a:round/>
            </a:ln>
            <a:effectLst/>
          </c:spPr>
          <c:marker>
            <c:symbol val="circle"/>
            <c:size val="8"/>
            <c:spPr>
              <a:solidFill>
                <a:srgbClr val="D1603D"/>
              </a:solidFill>
              <a:ln w="9525" cap="flat">
                <a:solidFill>
                  <a:srgbClr val="D1603D"/>
                </a:solidFill>
                <a:prstDash val="solid"/>
                <a:round/>
              </a:ln>
              <a:effectLst/>
            </c:spPr>
          </c:marker>
          <c:cat>
            <c:strRef>
              <c:f>Sheet1!$A$2:$A$7</c:f>
              <c:strCache>
                <c:ptCount val="6"/>
                <c:pt idx="0">
                  <c:v>10</c:v>
                </c:pt>
                <c:pt idx="1">
                  <c:v>20</c:v>
                </c:pt>
                <c:pt idx="2">
                  <c:v>30</c:v>
                </c:pt>
                <c:pt idx="3">
                  <c:v>50</c:v>
                </c:pt>
                <c:pt idx="4">
                  <c:v>100</c:v>
                </c:pt>
                <c:pt idx="5">
                  <c:v>200</c:v>
                </c:pt>
              </c:strCache>
            </c:strRef>
          </c:cat>
          <c:val>
            <c:numRef>
              <c:f>Sheet1!$C$2:$C$7</c:f>
              <c:numCache>
                <c:formatCode>General</c:formatCode>
                <c:ptCount val="6"/>
                <c:pt idx="0">
                  <c:v>0.76300000000000001</c:v>
                </c:pt>
                <c:pt idx="1">
                  <c:v>0.92300000000000004</c:v>
                </c:pt>
                <c:pt idx="2">
                  <c:v>0.92700000000000005</c:v>
                </c:pt>
                <c:pt idx="3">
                  <c:v>0.93100000000000005</c:v>
                </c:pt>
                <c:pt idx="4">
                  <c:v>0.93300000000000005</c:v>
                </c:pt>
                <c:pt idx="5">
                  <c:v>0.93400000000000005</c:v>
                </c:pt>
              </c:numCache>
            </c:numRef>
          </c:val>
          <c:smooth val="0"/>
          <c:extLst>
            <c:ext xmlns:c16="http://schemas.microsoft.com/office/drawing/2014/chart" uri="{C3380CC4-5D6E-409C-BE32-E72D297353CC}">
              <c16:uniqueId val="{00000001-584D-4BB2-AE87-2451250C5A8A}"/>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200" b="0" i="0" u="none" strike="noStrike">
                    <a:solidFill>
                      <a:srgbClr val="5B6B7A"/>
                    </a:solidFill>
                    <a:latin typeface="+mn-lt"/>
                  </a:defRPr>
                </a:pPr>
                <a:r>
                  <a:rPr lang="en-IN" sz="1200" b="0" i="0" u="none" strike="noStrike">
                    <a:solidFill>
                      <a:srgbClr val="5B6B7A"/>
                    </a:solidFill>
                    <a:latin typeface="+mn-lt"/>
                  </a:rPr>
                  <a:t>Number of trees</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38"/>
                </a:solidFill>
                <a:latin typeface="+mn-lt"/>
              </a:defRPr>
            </a:pPr>
            <a:endParaRPr lang="en-US"/>
          </a:p>
        </c:txPr>
        <c:crossAx val="2094734552"/>
        <c:crosses val="autoZero"/>
        <c:auto val="1"/>
        <c:lblAlgn val="ctr"/>
        <c:lblOffset val="100"/>
        <c:noMultiLvlLbl val="1"/>
      </c:catAx>
      <c:valAx>
        <c:axId val="2094734552"/>
        <c:scaling>
          <c:orientation val="minMax"/>
          <c:max val="1"/>
          <c:min val="0.7"/>
        </c:scaling>
        <c:delete val="0"/>
        <c:axPos val="l"/>
        <c:majorGridlines>
          <c:spPr>
            <a:ln w="6350" cap="flat">
              <a:solidFill>
                <a:srgbClr val="D9E1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A"/>
                </a:solidFill>
                <a:latin typeface="+mn-lt"/>
              </a:defRPr>
            </a:pPr>
            <a:endParaRPr lang="en-US"/>
          </a:p>
        </c:txPr>
        <c:crossAx val="2094734554"/>
        <c:crosses val="autoZero"/>
        <c:crossBetween val="between"/>
        <c:majorUnit val="0.1"/>
      </c:valAx>
      <c:spPr>
        <a:noFill/>
        <a:ln>
          <a:noFill/>
        </a:ln>
        <a:effectLst/>
      </c:spPr>
    </c:plotArea>
    <c:legend>
      <c:legendPos val="b"/>
      <c:overlay val="0"/>
      <c:txPr>
        <a:bodyPr/>
        <a:lstStyle/>
        <a:p>
          <a:pPr>
            <a:defRPr sz="1200">
              <a:solidFill>
                <a:srgbClr val="1B2A38"/>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B2A38"/>
                </a:solidFill>
                <a:latin typeface="+mn-lt"/>
              </a:defRPr>
            </a:pPr>
            <a:r>
              <a:rPr lang="en-US" sz="1400" b="0" i="0" u="none" strike="noStrike">
                <a:solidFill>
                  <a:srgbClr val="1B2A38"/>
                </a:solidFill>
                <a:latin typeface="+mn-lt"/>
              </a:rPr>
              <a:t>Test-set R² (axis starts at 0.80)</a:t>
            </a:r>
          </a:p>
        </c:rich>
      </c:tx>
      <c:overlay val="0"/>
    </c:title>
    <c:autoTitleDeleted val="0"/>
    <c:plotArea>
      <c:layout/>
      <c:barChart>
        <c:barDir val="col"/>
        <c:grouping val="clustered"/>
        <c:varyColors val="0"/>
        <c:ser>
          <c:idx val="0"/>
          <c:order val="0"/>
          <c:tx>
            <c:strRef>
              <c:f>Sheet1!$B$1</c:f>
              <c:strCache>
                <c:ptCount val="1"/>
                <c:pt idx="0">
                  <c:v>Random Forest (top 4)</c:v>
                </c:pt>
              </c:strCache>
            </c:strRef>
          </c:tx>
          <c:spPr>
            <a:solidFill>
              <a:srgbClr val="8FA3B5"/>
            </a:solidFill>
            <a:effectLst/>
          </c:spPr>
          <c:invertIfNegative val="0"/>
          <c:dLbls>
            <c:numFmt formatCode="0.000" sourceLinked="0"/>
            <c:spPr>
              <a:noFill/>
              <a:ln>
                <a:noFill/>
              </a:ln>
              <a:effectLst/>
            </c:spPr>
            <c:txPr>
              <a:bodyPr/>
              <a:lstStyle/>
              <a:p>
                <a:pPr>
                  <a:defRPr sz="1100" b="0" i="0" u="none" strike="noStrike">
                    <a:solidFill>
                      <a:srgbClr val="1B2A38"/>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d50</c:v>
                </c:pt>
                <c:pt idx="1">
                  <c:v>σ²</c:v>
                </c:pt>
              </c:strCache>
            </c:strRef>
          </c:cat>
          <c:val>
            <c:numRef>
              <c:f>Sheet1!$B$2:$B$3</c:f>
              <c:numCache>
                <c:formatCode>General</c:formatCode>
                <c:ptCount val="2"/>
                <c:pt idx="0">
                  <c:v>0.90900000000000003</c:v>
                </c:pt>
                <c:pt idx="1">
                  <c:v>0.93600000000000005</c:v>
                </c:pt>
              </c:numCache>
            </c:numRef>
          </c:val>
          <c:extLst>
            <c:ext xmlns:c16="http://schemas.microsoft.com/office/drawing/2014/chart" uri="{C3380CC4-5D6E-409C-BE32-E72D297353CC}">
              <c16:uniqueId val="{00000000-0916-4AC2-B52C-986BDB6D855E}"/>
            </c:ext>
          </c:extLst>
        </c:ser>
        <c:ser>
          <c:idx val="1"/>
          <c:order val="1"/>
          <c:tx>
            <c:strRef>
              <c:f>Sheet1!$C$1</c:f>
              <c:strCache>
                <c:ptCount val="1"/>
                <c:pt idx="0">
                  <c:v>SVR (top 4)</c:v>
                </c:pt>
              </c:strCache>
            </c:strRef>
          </c:tx>
          <c:spPr>
            <a:solidFill>
              <a:srgbClr val="1F7A8C"/>
            </a:solidFill>
            <a:effectLst/>
          </c:spPr>
          <c:invertIfNegative val="0"/>
          <c:dLbls>
            <c:numFmt formatCode="0.000" sourceLinked="0"/>
            <c:spPr>
              <a:noFill/>
              <a:ln>
                <a:noFill/>
              </a:ln>
              <a:effectLst/>
            </c:spPr>
            <c:txPr>
              <a:bodyPr/>
              <a:lstStyle/>
              <a:p>
                <a:pPr>
                  <a:defRPr sz="1100" b="0" i="0" u="none" strike="noStrike">
                    <a:solidFill>
                      <a:srgbClr val="1B2A38"/>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d50</c:v>
                </c:pt>
                <c:pt idx="1">
                  <c:v>σ²</c:v>
                </c:pt>
              </c:strCache>
            </c:strRef>
          </c:cat>
          <c:val>
            <c:numRef>
              <c:f>Sheet1!$C$2:$C$3</c:f>
              <c:numCache>
                <c:formatCode>General</c:formatCode>
                <c:ptCount val="2"/>
                <c:pt idx="0">
                  <c:v>0.92100000000000004</c:v>
                </c:pt>
                <c:pt idx="1">
                  <c:v>0.94799999999999995</c:v>
                </c:pt>
              </c:numCache>
            </c:numRef>
          </c:val>
          <c:extLst>
            <c:ext xmlns:c16="http://schemas.microsoft.com/office/drawing/2014/chart" uri="{C3380CC4-5D6E-409C-BE32-E72D297353CC}">
              <c16:uniqueId val="{00000001-0916-4AC2-B52C-986BDB6D855E}"/>
            </c:ext>
          </c:extLst>
        </c:ser>
        <c:ser>
          <c:idx val="2"/>
          <c:order val="2"/>
          <c:tx>
            <c:strRef>
              <c:f>Sheet1!$D$1</c:f>
              <c:strCache>
                <c:ptCount val="1"/>
                <c:pt idx="0">
                  <c:v>Noise ceiling</c:v>
                </c:pt>
              </c:strCache>
            </c:strRef>
          </c:tx>
          <c:spPr>
            <a:solidFill>
              <a:srgbClr val="D1603D"/>
            </a:solidFill>
            <a:effectLst/>
          </c:spPr>
          <c:invertIfNegative val="0"/>
          <c:dLbls>
            <c:numFmt formatCode="0.000" sourceLinked="0"/>
            <c:spPr>
              <a:noFill/>
              <a:ln>
                <a:noFill/>
              </a:ln>
              <a:effectLst/>
            </c:spPr>
            <c:txPr>
              <a:bodyPr/>
              <a:lstStyle/>
              <a:p>
                <a:pPr>
                  <a:defRPr sz="1100" b="0" i="0" u="none" strike="noStrike">
                    <a:solidFill>
                      <a:srgbClr val="1B2A38"/>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d50</c:v>
                </c:pt>
                <c:pt idx="1">
                  <c:v>σ²</c:v>
                </c:pt>
              </c:strCache>
            </c:strRef>
          </c:cat>
          <c:val>
            <c:numRef>
              <c:f>Sheet1!$D$2:$D$3</c:f>
              <c:numCache>
                <c:formatCode>General</c:formatCode>
                <c:ptCount val="2"/>
                <c:pt idx="0">
                  <c:v>0.93</c:v>
                </c:pt>
                <c:pt idx="1">
                  <c:v>0.95799999999999996</c:v>
                </c:pt>
              </c:numCache>
            </c:numRef>
          </c:val>
          <c:extLst>
            <c:ext xmlns:c16="http://schemas.microsoft.com/office/drawing/2014/chart" uri="{C3380CC4-5D6E-409C-BE32-E72D297353CC}">
              <c16:uniqueId val="{00000002-0916-4AC2-B52C-986BDB6D855E}"/>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B2A38"/>
                </a:solidFill>
                <a:latin typeface="+mn-lt"/>
              </a:defRPr>
            </a:pPr>
            <a:endParaRPr lang="en-US"/>
          </a:p>
        </c:txPr>
        <c:crossAx val="2094734552"/>
        <c:crosses val="autoZero"/>
        <c:auto val="1"/>
        <c:lblAlgn val="ctr"/>
        <c:lblOffset val="100"/>
        <c:noMultiLvlLbl val="1"/>
      </c:catAx>
      <c:valAx>
        <c:axId val="2094734552"/>
        <c:scaling>
          <c:orientation val="minMax"/>
          <c:max val="1"/>
          <c:min val="0.8"/>
        </c:scaling>
        <c:delete val="0"/>
        <c:axPos val="l"/>
        <c:majorGridlines>
          <c:spPr>
            <a:ln w="6350" cap="flat">
              <a:solidFill>
                <a:srgbClr val="D9E1E7"/>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A"/>
                </a:solidFill>
                <a:latin typeface="+mn-lt"/>
              </a:defRPr>
            </a:pPr>
            <a:endParaRPr lang="en-US"/>
          </a:p>
        </c:txPr>
        <c:crossAx val="2094734554"/>
        <c:crosses val="autoZero"/>
        <c:crossBetween val="between"/>
        <c:majorUnit val="0.05"/>
      </c:valAx>
      <c:spPr>
        <a:noFill/>
        <a:ln>
          <a:noFill/>
        </a:ln>
        <a:effectLst/>
      </c:spPr>
    </c:plotArea>
    <c:legend>
      <c:legendPos val="b"/>
      <c:overlay val="0"/>
      <c:txPr>
        <a:bodyPr/>
        <a:lstStyle/>
        <a:p>
          <a:pPr>
            <a:defRPr sz="1200">
              <a:solidFill>
                <a:srgbClr val="1B2A38"/>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08978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we predict two properties of suspended sediment particles (median size d50 and size variance) from eight measurements, comparing Random Forest and SVR. Mention we followed Egan's paper and used synthetic data.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flocculation simply: particles stick together and break up in seconds, so size is hard to predict with fixed formulas. The paper asks whether machine learning can learn the relationship from data. We frame it as regression with two targets.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field data was not available, so we generated data with the same variables. Be upfront: the targets are formulas plus noise. Because we know the noise, we can compute the best R² any model could get - the noise ceiling.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targets are roughly bell-shaped. Point out the heatmap: salinity and temperature are the red cells against d50 and variance. Wave velocity is negative for d50. The remaining four inputs are almost white.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steps. Stress that the test set is used once at the end, and that feature scaling is inside the pipeline so cross-validation is honest.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Salinity dominates variance (0.56); for d50 salinity, temperature and wave velocity are comparable. The bottom four are near zero. Be honest that this matches the generator, so it validates the method rather than discovering physics.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OOB score is a free validation estimate: each tree is scored on samples it did not train on. For SVR we kept the grid small. If asked: C=1 is the lowest value tried for variance, but the score hardly moves with larger C.</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numbers: SVR 0.921 and 0.948 versus RF 0.909 and 0.936. SVR is within about 0.01 of the noise ceiling (0.930 and 0.958); RF is within about 0.02. The y-axis starts at 0.80 so differences are visible; say that out loud.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 line is a perfect prediction. SVR points cluster tighter, especially at the high end. The RF flattening at extremes is a known property of tree ensembles.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last card in mind for Q&amp;A: someone will ask why our R-squared is higher than the paper. Answer: synthetic data with small noise, so it is not a like-for-like comparison.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upfront about limitations is a strength in the review. The most important is the first: the data is synthetic.</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notebook live (or show the saved outputs). Sections to show: data generation, feature importance, tuning, final test table, prediction plots.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2263A"/>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tx2"/>
          </a:solidFill>
          <a:ln/>
        </p:spPr>
      </p:sp>
      <p:sp>
        <p:nvSpPr>
          <p:cNvPr id="3" name="Text 1"/>
          <p:cNvSpPr>
            <a:spLocks noGrp="1"/>
          </p:cNvSpPr>
          <p:nvPr>
            <p:ph type="title" idx="101" hasCustomPrompt="1"/>
          </p:nvPr>
        </p:nvSpPr>
        <p:spPr>
          <a:xfrm>
            <a:off x="822960" y="2011680"/>
            <a:ext cx="10424160" cy="173736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4" name="Text 1"/>
          <p:cNvSpPr>
            <a:spLocks noGrp="1"/>
          </p:cNvSpPr>
          <p:nvPr>
            <p:ph type="body" idx="102" hasCustomPrompt="1"/>
          </p:nvPr>
        </p:nvSpPr>
        <p:spPr>
          <a:xfrm>
            <a:off x="822960" y="4023360"/>
            <a:ext cx="10424160" cy="1463040"/>
          </a:xfrm>
          <a:prstGeom prst="rect">
            <a:avLst/>
          </a:prstGeom>
          <a:noFill/>
          <a:ln/>
        </p:spPr>
        <p:txBody>
          <a:bodyPr wrap="square" rtlCol="0"/>
          <a:lstStyle>
            <a:lvl1pPr marL="0" indent="0" algn="l">
              <a:buNone/>
              <a:defRPr lang="en-US" sz="1800" dirty="0">
                <a:solidFill>
                  <a:schemeClr val="accent4"/>
                </a:solidFill>
              </a:defRPr>
            </a:lvl1pPr>
          </a:lstStyle>
          <a:p>
            <a:pPr marL="0" indent="0" algn="l">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94360" y="411480"/>
            <a:ext cx="11000232" cy="868680"/>
          </a:xfrm>
          <a:prstGeom prst="rect">
            <a:avLst/>
          </a:prstGeom>
          <a:noFill/>
          <a:ln/>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
        <p:nvSpPr>
          <p:cNvPr id="3" name="Text 0"/>
          <p:cNvSpPr/>
          <p:nvPr/>
        </p:nvSpPr>
        <p:spPr>
          <a:xfrm>
            <a:off x="594360" y="6400800"/>
            <a:ext cx="5486400" cy="274320"/>
          </a:xfrm>
          <a:prstGeom prst="rect">
            <a:avLst/>
          </a:prstGeom>
          <a:noFill/>
          <a:ln/>
        </p:spPr>
        <p:txBody>
          <a:bodyPr wrap="square" lIns="0" tIns="0" rIns="0" bIns="0" rtlCol="0" anchor="ctr"/>
          <a:lstStyle/>
          <a:p>
            <a:pPr marL="0" indent="0">
              <a:buNone/>
            </a:pPr>
            <a:r>
              <a:rPr lang="en-US" sz="1000" dirty="0">
                <a:solidFill>
                  <a:schemeClr val="accent5"/>
                </a:solidFill>
              </a:rPr>
              <a:t>UE24CS352A · ML Mini-Project</a:t>
            </a:r>
            <a:endParaRPr lang="en-US" sz="1000" dirty="0"/>
          </a:p>
        </p:txBody>
      </p:sp>
      <p:sp>
        <p:nvSpPr>
          <p:cNvPr id="25" name="Slide Number Placeholder 0"/>
          <p:cNvSpPr>
            <a:spLocks noGrp="1"/>
          </p:cNvSpPr>
          <p:nvPr>
            <p:ph type="sldNum" sz="quarter" idx="4294967295"/>
          </p:nvPr>
        </p:nvSpPr>
        <p:spPr>
          <a:xfrm>
            <a:off x="11045952"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45952"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822960" y="2011680"/>
            <a:ext cx="10424160" cy="1737360"/>
          </a:xfrm>
          <a:prstGeom prst="rect">
            <a:avLst/>
          </a:prstGeom>
          <a:noFill/>
          <a:ln/>
        </p:spPr>
        <p:txBody>
          <a:bodyPr wrap="square" lIns="0" tIns="0" rIns="0" bIns="0" rtlCol="0" anchor="b"/>
          <a:lstStyle/>
          <a:p>
            <a:pPr marL="0" indent="0" algn="l">
              <a:buNone/>
            </a:pPr>
            <a:r>
              <a:rPr lang="en-US" sz="4400" b="1" dirty="0">
                <a:solidFill>
                  <a:schemeClr val="bg1"/>
                </a:solidFill>
              </a:rPr>
              <a:t>Predicting Sediment Particle Size Distributions with Machine Learning</a:t>
            </a:r>
            <a:endParaRPr lang="en-US" sz="4400" dirty="0"/>
          </a:p>
        </p:txBody>
      </p:sp>
      <p:sp>
        <p:nvSpPr>
          <p:cNvPr id="3" name="Text 1"/>
          <p:cNvSpPr>
            <a:spLocks noGrp="1"/>
          </p:cNvSpPr>
          <p:nvPr>
            <p:ph type="body" idx="102" hasCustomPrompt="1"/>
          </p:nvPr>
        </p:nvSpPr>
        <p:spPr>
          <a:xfrm>
            <a:off x="822960" y="4023360"/>
            <a:ext cx="10424160" cy="1463040"/>
          </a:xfrm>
          <a:prstGeom prst="rect">
            <a:avLst/>
          </a:prstGeom>
          <a:noFill/>
          <a:ln/>
        </p:spPr>
        <p:txBody>
          <a:bodyPr wrap="square" lIns="0" tIns="0" rIns="0" bIns="0" rtlCol="0" anchor="t"/>
          <a:lstStyle/>
          <a:p>
            <a:pPr marL="0" indent="0" algn="l">
              <a:spcAft>
                <a:spcPts val="600"/>
              </a:spcAft>
              <a:buNone/>
            </a:pPr>
            <a:r>
              <a:rPr lang="en-US" sz="1800" dirty="0">
                <a:solidFill>
                  <a:schemeClr val="accent4"/>
                </a:solidFill>
              </a:rPr>
              <a:t>Random Forest vs Support Vector Regression</a:t>
            </a:r>
            <a:endParaRPr lang="en-US" sz="1800" dirty="0"/>
          </a:p>
          <a:p>
            <a:pPr>
              <a:spcAft>
                <a:spcPts val="600"/>
              </a:spcAft>
            </a:pPr>
            <a:r>
              <a:rPr lang="en-US" sz="1800" dirty="0">
                <a:solidFill>
                  <a:schemeClr val="accent4"/>
                </a:solidFill>
              </a:rPr>
              <a:t>UE24CS352A · Machine Learning Mini-Project</a:t>
            </a:r>
          </a:p>
          <a:p>
            <a:pPr>
              <a:spcAft>
                <a:spcPts val="600"/>
              </a:spcAft>
            </a:pPr>
            <a:r>
              <a:rPr lang="en-US" dirty="0"/>
              <a:t>Problem Number: 62</a:t>
            </a:r>
            <a:br>
              <a:rPr lang="en-US" dirty="0"/>
            </a:br>
            <a:r>
              <a:rPr lang="en-US" dirty="0"/>
              <a:t> Arnav Chaudhary : PES1UG24CS081</a:t>
            </a:r>
            <a:br>
              <a:rPr lang="en-US" dirty="0"/>
            </a:br>
            <a:r>
              <a:rPr lang="en-US" dirty="0"/>
              <a:t> Arundhathi K : PES1UG24CS082</a:t>
            </a:r>
          </a:p>
          <a:p>
            <a:pPr marL="0" indent="0" algn="l">
              <a:spcAft>
                <a:spcPts val="600"/>
              </a:spcAft>
              <a:buNone/>
            </a:pP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94360" y="411480"/>
            <a:ext cx="11000232" cy="868680"/>
          </a:xfrm>
          <a:prstGeom prst="rect">
            <a:avLst/>
          </a:prstGeom>
          <a:noFill/>
          <a:ln/>
        </p:spPr>
        <p:txBody>
          <a:bodyPr wrap="square" lIns="0" tIns="0" rIns="0" bIns="0" rtlCol="0" anchor="ctr"/>
          <a:lstStyle/>
          <a:p>
            <a:pPr marL="0" indent="0" algn="l">
              <a:buNone/>
            </a:pPr>
            <a:r>
              <a:rPr lang="en-US" sz="3200" b="1" dirty="0">
                <a:solidFill>
                  <a:schemeClr val="tx1"/>
                </a:solidFill>
              </a:rPr>
              <a:t>Settling models need particle size</a:t>
            </a:r>
            <a:endParaRPr lang="en-US" sz="3200" dirty="0"/>
          </a:p>
        </p:txBody>
      </p:sp>
      <p:sp>
        <p:nvSpPr>
          <p:cNvPr id="3" name="Text 1"/>
          <p:cNvSpPr txBox="1"/>
          <p:nvPr/>
        </p:nvSpPr>
        <p:spPr>
          <a:xfrm>
            <a:off x="594360" y="1600200"/>
            <a:ext cx="5760720" cy="320040"/>
          </a:xfrm>
          <a:prstGeom prst="rect">
            <a:avLst/>
          </a:prstGeom>
          <a:noFill/>
          <a:ln/>
        </p:spPr>
        <p:txBody>
          <a:bodyPr wrap="square" lIns="0" tIns="0" rIns="0" bIns="0" rtlCol="0" anchor="t"/>
          <a:lstStyle/>
          <a:p>
            <a:pPr marL="0" indent="0">
              <a:buNone/>
            </a:pPr>
            <a:r>
              <a:rPr lang="en-US" sz="1800" b="1" dirty="0">
                <a:solidFill>
                  <a:schemeClr val="accent1"/>
                </a:solidFill>
              </a:rPr>
              <a:t>Why it matters</a:t>
            </a:r>
            <a:endParaRPr lang="en-US" sz="1800" dirty="0"/>
          </a:p>
        </p:txBody>
      </p:sp>
      <p:sp>
        <p:nvSpPr>
          <p:cNvPr id="4" name="Text 2"/>
          <p:cNvSpPr txBox="1"/>
          <p:nvPr/>
        </p:nvSpPr>
        <p:spPr>
          <a:xfrm>
            <a:off x="594360" y="1965960"/>
            <a:ext cx="5760720" cy="914400"/>
          </a:xfrm>
          <a:prstGeom prst="rect">
            <a:avLst/>
          </a:prstGeom>
          <a:noFill/>
          <a:ln/>
        </p:spPr>
        <p:txBody>
          <a:bodyPr wrap="square" lIns="0" tIns="0" rIns="0" bIns="0" rtlCol="0" anchor="t"/>
          <a:lstStyle/>
          <a:p>
            <a:pPr marL="0" indent="0">
              <a:buNone/>
            </a:pPr>
            <a:r>
              <a:rPr lang="en-US" sz="1600" dirty="0">
                <a:solidFill>
                  <a:schemeClr val="tx1"/>
                </a:solidFill>
              </a:rPr>
              <a:t>Settling velocity drives sediment transport, carbon burial, contaminant spread and coastal erosion.</a:t>
            </a:r>
            <a:endParaRPr lang="en-US" sz="1600" dirty="0"/>
          </a:p>
        </p:txBody>
      </p:sp>
      <p:sp>
        <p:nvSpPr>
          <p:cNvPr id="5" name="Text 3"/>
          <p:cNvSpPr txBox="1"/>
          <p:nvPr/>
        </p:nvSpPr>
        <p:spPr>
          <a:xfrm>
            <a:off x="594360" y="3063240"/>
            <a:ext cx="5760720" cy="320040"/>
          </a:xfrm>
          <a:prstGeom prst="rect">
            <a:avLst/>
          </a:prstGeom>
          <a:noFill/>
          <a:ln/>
        </p:spPr>
        <p:txBody>
          <a:bodyPr wrap="square" lIns="0" tIns="0" rIns="0" bIns="0" rtlCol="0" anchor="t"/>
          <a:lstStyle/>
          <a:p>
            <a:pPr marL="0" indent="0">
              <a:buNone/>
            </a:pPr>
            <a:r>
              <a:rPr lang="en-US" sz="1800" b="1" dirty="0">
                <a:solidFill>
                  <a:schemeClr val="accent1"/>
                </a:solidFill>
              </a:rPr>
              <a:t>The difficulty</a:t>
            </a:r>
            <a:endParaRPr lang="en-US" sz="1800" dirty="0"/>
          </a:p>
        </p:txBody>
      </p:sp>
      <p:sp>
        <p:nvSpPr>
          <p:cNvPr id="6" name="Text 4"/>
          <p:cNvSpPr txBox="1"/>
          <p:nvPr/>
        </p:nvSpPr>
        <p:spPr>
          <a:xfrm>
            <a:off x="594360" y="3429000"/>
            <a:ext cx="5760720" cy="914400"/>
          </a:xfrm>
          <a:prstGeom prst="rect">
            <a:avLst/>
          </a:prstGeom>
          <a:noFill/>
          <a:ln/>
        </p:spPr>
        <p:txBody>
          <a:bodyPr wrap="square" lIns="0" tIns="0" rIns="0" bIns="0" rtlCol="0" anchor="t"/>
          <a:lstStyle/>
          <a:p>
            <a:pPr marL="0" indent="0">
              <a:buNone/>
            </a:pPr>
            <a:r>
              <a:rPr lang="en-US" sz="1600" dirty="0">
                <a:solidFill>
                  <a:schemeClr val="tx1"/>
                </a:solidFill>
              </a:rPr>
              <a:t>Settling depends on particle size, which changes within seconds as particles clump and break apart (flocculation). Existing models are tuned to single sites.</a:t>
            </a:r>
            <a:endParaRPr lang="en-US" sz="1600" dirty="0"/>
          </a:p>
        </p:txBody>
      </p:sp>
      <p:sp>
        <p:nvSpPr>
          <p:cNvPr id="7" name="Text 5"/>
          <p:cNvSpPr txBox="1"/>
          <p:nvPr/>
        </p:nvSpPr>
        <p:spPr>
          <a:xfrm>
            <a:off x="594360" y="4526280"/>
            <a:ext cx="5760720" cy="320040"/>
          </a:xfrm>
          <a:prstGeom prst="rect">
            <a:avLst/>
          </a:prstGeom>
          <a:noFill/>
          <a:ln/>
        </p:spPr>
        <p:txBody>
          <a:bodyPr wrap="square" lIns="0" tIns="0" rIns="0" bIns="0" rtlCol="0" anchor="t"/>
          <a:lstStyle/>
          <a:p>
            <a:pPr marL="0" indent="0">
              <a:buNone/>
            </a:pPr>
            <a:r>
              <a:rPr lang="en-US" sz="1800" b="1" dirty="0">
                <a:solidFill>
                  <a:schemeClr val="accent1"/>
                </a:solidFill>
              </a:rPr>
              <a:t>Our question</a:t>
            </a:r>
            <a:endParaRPr lang="en-US" sz="1800" dirty="0"/>
          </a:p>
        </p:txBody>
      </p:sp>
      <p:sp>
        <p:nvSpPr>
          <p:cNvPr id="8" name="Text 6"/>
          <p:cNvSpPr txBox="1"/>
          <p:nvPr/>
        </p:nvSpPr>
        <p:spPr>
          <a:xfrm>
            <a:off x="594360" y="4892040"/>
            <a:ext cx="5760720" cy="914400"/>
          </a:xfrm>
          <a:prstGeom prst="rect">
            <a:avLst/>
          </a:prstGeom>
          <a:noFill/>
          <a:ln/>
        </p:spPr>
        <p:txBody>
          <a:bodyPr wrap="square" lIns="0" tIns="0" rIns="0" bIns="0" rtlCol="0" anchor="t"/>
          <a:lstStyle/>
          <a:p>
            <a:pPr marL="0" indent="0">
              <a:buNone/>
            </a:pPr>
            <a:r>
              <a:rPr lang="en-US" sz="1600" dirty="0">
                <a:solidFill>
                  <a:schemeClr val="tx1"/>
                </a:solidFill>
              </a:rPr>
              <a:t>Can a regression model predict median diameter d50 and size variance σ² from routine water measurements?</a:t>
            </a:r>
            <a:endParaRPr lang="en-US" sz="1600" dirty="0"/>
          </a:p>
        </p:txBody>
      </p:sp>
      <p:sp>
        <p:nvSpPr>
          <p:cNvPr id="9" name="Inputs"/>
          <p:cNvSpPr/>
          <p:nvPr/>
        </p:nvSpPr>
        <p:spPr>
          <a:xfrm>
            <a:off x="7315200" y="1645920"/>
            <a:ext cx="4297680" cy="1325880"/>
          </a:xfrm>
          <a:prstGeom prst="roundRect">
            <a:avLst>
              <a:gd name="adj" fmla="val 6897"/>
            </a:avLst>
          </a:prstGeom>
          <a:solidFill>
            <a:schemeClr val="bg2"/>
          </a:solidFill>
          <a:ln w="12700">
            <a:solidFill>
              <a:schemeClr val="bg2"/>
            </a:solidFill>
            <a:prstDash val="solid"/>
          </a:ln>
        </p:spPr>
      </p:sp>
      <p:sp>
        <p:nvSpPr>
          <p:cNvPr id="10" name="Text 8"/>
          <p:cNvSpPr txBox="1"/>
          <p:nvPr/>
        </p:nvSpPr>
        <p:spPr>
          <a:xfrm>
            <a:off x="7543800" y="1645920"/>
            <a:ext cx="3840480" cy="1325880"/>
          </a:xfrm>
          <a:prstGeom prst="rect">
            <a:avLst/>
          </a:prstGeom>
          <a:noFill/>
          <a:ln/>
        </p:spPr>
        <p:txBody>
          <a:bodyPr wrap="square" lIns="0" tIns="0" rIns="0" bIns="0" rtlCol="0" anchor="ctr"/>
          <a:lstStyle/>
          <a:p>
            <a:pPr marL="0" indent="0">
              <a:buNone/>
            </a:pPr>
            <a:r>
              <a:rPr lang="en-US" sz="1800" b="1" dirty="0">
                <a:solidFill>
                  <a:schemeClr val="tx1"/>
                </a:solidFill>
              </a:rPr>
              <a:t>8 measured inputs</a:t>
            </a:r>
            <a:endParaRPr lang="en-US" sz="1600" dirty="0"/>
          </a:p>
          <a:p>
            <a:pPr marL="0" indent="0">
              <a:buNone/>
            </a:pPr>
            <a:r>
              <a:rPr lang="en-US" sz="1400" dirty="0">
                <a:solidFill>
                  <a:schemeClr val="tx1"/>
                </a:solidFill>
              </a:rPr>
              <a:t>salinity, temperature, wave and tidal velocity, refractive index, chlorophyll-a, two optical ratios</a:t>
            </a:r>
            <a:endParaRPr lang="en-US" sz="1600" dirty="0"/>
          </a:p>
        </p:txBody>
      </p:sp>
      <p:sp>
        <p:nvSpPr>
          <p:cNvPr id="11" name="Model"/>
          <p:cNvSpPr/>
          <p:nvPr/>
        </p:nvSpPr>
        <p:spPr>
          <a:xfrm>
            <a:off x="7315200" y="3474720"/>
            <a:ext cx="4297680" cy="914400"/>
          </a:xfrm>
          <a:prstGeom prst="roundRect">
            <a:avLst>
              <a:gd name="adj" fmla="val 10000"/>
            </a:avLst>
          </a:prstGeom>
          <a:solidFill>
            <a:schemeClr val="accent1"/>
          </a:solidFill>
          <a:ln w="12700">
            <a:solidFill>
              <a:schemeClr val="accent1"/>
            </a:solidFill>
            <a:prstDash val="solid"/>
          </a:ln>
        </p:spPr>
      </p:sp>
      <p:sp>
        <p:nvSpPr>
          <p:cNvPr id="12" name="Text 10"/>
          <p:cNvSpPr txBox="1"/>
          <p:nvPr/>
        </p:nvSpPr>
        <p:spPr>
          <a:xfrm>
            <a:off x="7543800" y="3474720"/>
            <a:ext cx="3840480" cy="914400"/>
          </a:xfrm>
          <a:prstGeom prst="rect">
            <a:avLst/>
          </a:prstGeom>
          <a:noFill/>
          <a:ln/>
        </p:spPr>
        <p:txBody>
          <a:bodyPr wrap="square" lIns="0" tIns="0" rIns="0" bIns="0" rtlCol="0" anchor="ctr"/>
          <a:lstStyle/>
          <a:p>
            <a:pPr marL="0" indent="0">
              <a:buNone/>
            </a:pPr>
            <a:r>
              <a:rPr lang="en-US" sz="1800" b="1" dirty="0">
                <a:solidFill>
                  <a:schemeClr val="bg1"/>
                </a:solidFill>
              </a:rPr>
              <a:t>Random Forest / SVR</a:t>
            </a:r>
            <a:endParaRPr lang="en-US" sz="1600" dirty="0"/>
          </a:p>
          <a:p>
            <a:pPr marL="0" indent="0">
              <a:buNone/>
            </a:pPr>
            <a:r>
              <a:rPr lang="en-US" sz="1400" dirty="0">
                <a:solidFill>
                  <a:schemeClr val="bg1"/>
                </a:solidFill>
              </a:rPr>
              <a:t>regression models</a:t>
            </a:r>
            <a:endParaRPr lang="en-US" sz="1600" dirty="0"/>
          </a:p>
        </p:txBody>
      </p:sp>
      <p:sp>
        <p:nvSpPr>
          <p:cNvPr id="13" name="Outputs"/>
          <p:cNvSpPr/>
          <p:nvPr/>
        </p:nvSpPr>
        <p:spPr>
          <a:xfrm>
            <a:off x="7315200" y="4892040"/>
            <a:ext cx="4297680" cy="914400"/>
          </a:xfrm>
          <a:prstGeom prst="roundRect">
            <a:avLst>
              <a:gd name="adj" fmla="val 10000"/>
            </a:avLst>
          </a:prstGeom>
          <a:solidFill>
            <a:schemeClr val="bg2"/>
          </a:solidFill>
          <a:ln w="12700">
            <a:solidFill>
              <a:schemeClr val="bg2"/>
            </a:solidFill>
            <a:prstDash val="solid"/>
          </a:ln>
        </p:spPr>
      </p:sp>
      <p:sp>
        <p:nvSpPr>
          <p:cNvPr id="14" name="Text 12"/>
          <p:cNvSpPr txBox="1"/>
          <p:nvPr/>
        </p:nvSpPr>
        <p:spPr>
          <a:xfrm>
            <a:off x="7543800" y="4892040"/>
            <a:ext cx="3840480" cy="914400"/>
          </a:xfrm>
          <a:prstGeom prst="rect">
            <a:avLst/>
          </a:prstGeom>
          <a:noFill/>
          <a:ln/>
        </p:spPr>
        <p:txBody>
          <a:bodyPr wrap="square" lIns="0" tIns="0" rIns="0" bIns="0" rtlCol="0" anchor="ctr"/>
          <a:lstStyle/>
          <a:p>
            <a:pPr marL="0" indent="0">
              <a:buNone/>
            </a:pPr>
            <a:r>
              <a:rPr lang="en-US" sz="1800" b="1" dirty="0">
                <a:solidFill>
                  <a:schemeClr val="tx1"/>
                </a:solidFill>
              </a:rPr>
              <a:t>d50 and σ²</a:t>
            </a:r>
            <a:endParaRPr lang="en-US" sz="1600" dirty="0"/>
          </a:p>
          <a:p>
            <a:pPr marL="0" indent="0">
              <a:buNone/>
            </a:pPr>
            <a:r>
              <a:rPr lang="en-US" sz="1400" dirty="0">
                <a:solidFill>
                  <a:schemeClr val="tx1"/>
                </a:solidFill>
              </a:rPr>
              <a:t>median size (µm) and variance (µm²)</a:t>
            </a:r>
            <a:endParaRPr lang="en-US" sz="1600" dirty="0"/>
          </a:p>
        </p:txBody>
      </p:sp>
      <p:sp>
        <p:nvSpPr>
          <p:cNvPr id="15" name="Arrow 1"/>
          <p:cNvSpPr/>
          <p:nvPr/>
        </p:nvSpPr>
        <p:spPr>
          <a:xfrm>
            <a:off x="9464040" y="3017520"/>
            <a:ext cx="0" cy="411480"/>
          </a:xfrm>
          <a:prstGeom prst="line">
            <a:avLst/>
          </a:prstGeom>
          <a:noFill/>
          <a:ln w="19050">
            <a:solidFill>
              <a:srgbClr val="5B6B7A"/>
            </a:solidFill>
            <a:prstDash val="solid"/>
            <a:tailEnd type="triangle"/>
          </a:ln>
        </p:spPr>
      </p:sp>
      <p:sp>
        <p:nvSpPr>
          <p:cNvPr id="16" name="Arrow 2"/>
          <p:cNvSpPr/>
          <p:nvPr/>
        </p:nvSpPr>
        <p:spPr>
          <a:xfrm>
            <a:off x="9464040" y="4434840"/>
            <a:ext cx="0" cy="411480"/>
          </a:xfrm>
          <a:prstGeom prst="line">
            <a:avLst/>
          </a:prstGeom>
          <a:noFill/>
          <a:ln w="19050">
            <a:solidFill>
              <a:srgbClr val="5B6B7A"/>
            </a:solidFill>
            <a:prstDash val="solid"/>
            <a:tailEnd type="triangle"/>
          </a:ln>
        </p:spPr>
      </p:sp>
      <p:sp>
        <p:nvSpPr>
          <p:cNvPr id="25" name="Slide Number Placeholder 0"/>
          <p:cNvSpPr>
            <a:spLocks noGrp="1"/>
          </p:cNvSpPr>
          <p:nvPr>
            <p:ph type="sldNum" sz="quarter" idx="4294967295"/>
          </p:nvPr>
        </p:nvSpPr>
        <p:spPr>
          <a:xfrm>
            <a:off x="11045952"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94360" y="411480"/>
            <a:ext cx="11000232" cy="868680"/>
          </a:xfrm>
          <a:prstGeom prst="rect">
            <a:avLst/>
          </a:prstGeom>
          <a:noFill/>
          <a:ln/>
        </p:spPr>
        <p:txBody>
          <a:bodyPr wrap="square" lIns="0" tIns="0" rIns="0" bIns="0" rtlCol="0" anchor="ctr"/>
          <a:lstStyle/>
          <a:p>
            <a:pPr marL="0" indent="0" algn="l">
              <a:buNone/>
            </a:pPr>
            <a:r>
              <a:rPr lang="en-US" sz="3200" b="1" dirty="0">
                <a:solidFill>
                  <a:schemeClr val="tx1"/>
                </a:solidFill>
              </a:rPr>
              <a:t>A synthetic stand-in for the field data</a:t>
            </a:r>
            <a:endParaRPr lang="en-US" sz="3200" dirty="0"/>
          </a:p>
        </p:txBody>
      </p:sp>
      <p:sp>
        <p:nvSpPr>
          <p:cNvPr id="3" name="Stat 1"/>
          <p:cNvSpPr/>
          <p:nvPr/>
        </p:nvSpPr>
        <p:spPr>
          <a:xfrm>
            <a:off x="594360" y="1600200"/>
            <a:ext cx="2377440" cy="1371600"/>
          </a:xfrm>
          <a:prstGeom prst="roundRect">
            <a:avLst>
              <a:gd name="adj" fmla="val 5333"/>
            </a:avLst>
          </a:prstGeom>
          <a:solidFill>
            <a:schemeClr val="bg2"/>
          </a:solidFill>
          <a:ln w="12700">
            <a:solidFill>
              <a:schemeClr val="bg2"/>
            </a:solidFill>
            <a:prstDash val="solid"/>
          </a:ln>
        </p:spPr>
      </p:sp>
      <p:sp>
        <p:nvSpPr>
          <p:cNvPr id="4" name="Text 2"/>
          <p:cNvSpPr txBox="1"/>
          <p:nvPr/>
        </p:nvSpPr>
        <p:spPr>
          <a:xfrm>
            <a:off x="594360" y="1709928"/>
            <a:ext cx="2377440" cy="685800"/>
          </a:xfrm>
          <a:prstGeom prst="rect">
            <a:avLst/>
          </a:prstGeom>
          <a:noFill/>
          <a:ln/>
        </p:spPr>
        <p:txBody>
          <a:bodyPr wrap="square" lIns="0" tIns="0" rIns="0" bIns="0" rtlCol="0" anchor="t"/>
          <a:lstStyle/>
          <a:p>
            <a:pPr marL="0" indent="0" algn="ctr">
              <a:buNone/>
            </a:pPr>
            <a:r>
              <a:rPr lang="en-US" sz="3800" b="1" dirty="0">
                <a:solidFill>
                  <a:schemeClr val="accent1"/>
                </a:solidFill>
                <a:latin typeface="Cambria" pitchFamily="34" charset="0"/>
                <a:ea typeface="Cambria" pitchFamily="34" charset="-122"/>
                <a:cs typeface="Cambria" pitchFamily="34" charset="-120"/>
              </a:rPr>
              <a:t>5000</a:t>
            </a:r>
            <a:endParaRPr lang="en-US" sz="3800" dirty="0"/>
          </a:p>
        </p:txBody>
      </p:sp>
      <p:sp>
        <p:nvSpPr>
          <p:cNvPr id="5" name="Text 3"/>
          <p:cNvSpPr txBox="1"/>
          <p:nvPr/>
        </p:nvSpPr>
        <p:spPr>
          <a:xfrm>
            <a:off x="594360" y="2423160"/>
            <a:ext cx="2377440" cy="365760"/>
          </a:xfrm>
          <a:prstGeom prst="rect">
            <a:avLst/>
          </a:prstGeom>
          <a:noFill/>
          <a:ln/>
        </p:spPr>
        <p:txBody>
          <a:bodyPr wrap="square" lIns="0" tIns="0" rIns="0" bIns="0" rtlCol="0" anchor="t"/>
          <a:lstStyle/>
          <a:p>
            <a:pPr marL="0" indent="0" algn="ctr">
              <a:buNone/>
            </a:pPr>
            <a:r>
              <a:rPr lang="en-US" sz="1400" dirty="0">
                <a:solidFill>
                  <a:schemeClr val="accent5"/>
                </a:solidFill>
              </a:rPr>
              <a:t>samples</a:t>
            </a:r>
            <a:endParaRPr lang="en-US" sz="1400" dirty="0"/>
          </a:p>
        </p:txBody>
      </p:sp>
      <p:sp>
        <p:nvSpPr>
          <p:cNvPr id="6" name="Stat 2"/>
          <p:cNvSpPr/>
          <p:nvPr/>
        </p:nvSpPr>
        <p:spPr>
          <a:xfrm>
            <a:off x="3200400" y="1600200"/>
            <a:ext cx="2377440" cy="1371600"/>
          </a:xfrm>
          <a:prstGeom prst="roundRect">
            <a:avLst>
              <a:gd name="adj" fmla="val 5333"/>
            </a:avLst>
          </a:prstGeom>
          <a:solidFill>
            <a:schemeClr val="bg2"/>
          </a:solidFill>
          <a:ln w="12700">
            <a:solidFill>
              <a:schemeClr val="bg2"/>
            </a:solidFill>
            <a:prstDash val="solid"/>
          </a:ln>
        </p:spPr>
      </p:sp>
      <p:sp>
        <p:nvSpPr>
          <p:cNvPr id="7" name="Text 5"/>
          <p:cNvSpPr txBox="1"/>
          <p:nvPr/>
        </p:nvSpPr>
        <p:spPr>
          <a:xfrm>
            <a:off x="3200400" y="1709928"/>
            <a:ext cx="2377440" cy="685800"/>
          </a:xfrm>
          <a:prstGeom prst="rect">
            <a:avLst/>
          </a:prstGeom>
          <a:noFill/>
          <a:ln/>
        </p:spPr>
        <p:txBody>
          <a:bodyPr wrap="square" lIns="0" tIns="0" rIns="0" bIns="0" rtlCol="0" anchor="t"/>
          <a:lstStyle/>
          <a:p>
            <a:pPr marL="0" indent="0" algn="ctr">
              <a:buNone/>
            </a:pPr>
            <a:r>
              <a:rPr lang="en-US" sz="3800" b="1" dirty="0">
                <a:solidFill>
                  <a:schemeClr val="accent1"/>
                </a:solidFill>
                <a:latin typeface="Cambria" pitchFamily="34" charset="0"/>
                <a:ea typeface="Cambria" pitchFamily="34" charset="-122"/>
                <a:cs typeface="Cambria" pitchFamily="34" charset="-120"/>
              </a:rPr>
              <a:t>8</a:t>
            </a:r>
            <a:endParaRPr lang="en-US" sz="3800" dirty="0"/>
          </a:p>
        </p:txBody>
      </p:sp>
      <p:sp>
        <p:nvSpPr>
          <p:cNvPr id="8" name="Text 6"/>
          <p:cNvSpPr txBox="1"/>
          <p:nvPr/>
        </p:nvSpPr>
        <p:spPr>
          <a:xfrm>
            <a:off x="3200400" y="2423160"/>
            <a:ext cx="2377440" cy="365760"/>
          </a:xfrm>
          <a:prstGeom prst="rect">
            <a:avLst/>
          </a:prstGeom>
          <a:noFill/>
          <a:ln/>
        </p:spPr>
        <p:txBody>
          <a:bodyPr wrap="square" lIns="0" tIns="0" rIns="0" bIns="0" rtlCol="0" anchor="t"/>
          <a:lstStyle/>
          <a:p>
            <a:pPr marL="0" indent="0" algn="ctr">
              <a:buNone/>
            </a:pPr>
            <a:r>
              <a:rPr lang="en-US" sz="1400" dirty="0">
                <a:solidFill>
                  <a:schemeClr val="accent5"/>
                </a:solidFill>
              </a:rPr>
              <a:t>input features</a:t>
            </a:r>
            <a:endParaRPr lang="en-US" sz="1400" dirty="0"/>
          </a:p>
        </p:txBody>
      </p:sp>
      <p:sp>
        <p:nvSpPr>
          <p:cNvPr id="9" name="Stat 3"/>
          <p:cNvSpPr/>
          <p:nvPr/>
        </p:nvSpPr>
        <p:spPr>
          <a:xfrm>
            <a:off x="594360" y="3200400"/>
            <a:ext cx="2377440" cy="1371600"/>
          </a:xfrm>
          <a:prstGeom prst="roundRect">
            <a:avLst>
              <a:gd name="adj" fmla="val 5333"/>
            </a:avLst>
          </a:prstGeom>
          <a:solidFill>
            <a:schemeClr val="bg2"/>
          </a:solidFill>
          <a:ln w="12700">
            <a:solidFill>
              <a:schemeClr val="bg2"/>
            </a:solidFill>
            <a:prstDash val="solid"/>
          </a:ln>
        </p:spPr>
      </p:sp>
      <p:sp>
        <p:nvSpPr>
          <p:cNvPr id="10" name="Text 8"/>
          <p:cNvSpPr txBox="1"/>
          <p:nvPr/>
        </p:nvSpPr>
        <p:spPr>
          <a:xfrm>
            <a:off x="594360" y="3310128"/>
            <a:ext cx="2377440" cy="685800"/>
          </a:xfrm>
          <a:prstGeom prst="rect">
            <a:avLst/>
          </a:prstGeom>
          <a:noFill/>
          <a:ln/>
        </p:spPr>
        <p:txBody>
          <a:bodyPr wrap="square" lIns="0" tIns="0" rIns="0" bIns="0" rtlCol="0" anchor="t"/>
          <a:lstStyle/>
          <a:p>
            <a:pPr marL="0" indent="0" algn="ctr">
              <a:buNone/>
            </a:pPr>
            <a:r>
              <a:rPr lang="en-US" sz="3800" b="1" dirty="0">
                <a:solidFill>
                  <a:schemeClr val="accent1"/>
                </a:solidFill>
                <a:latin typeface="Cambria" pitchFamily="34" charset="0"/>
                <a:ea typeface="Cambria" pitchFamily="34" charset="-122"/>
                <a:cs typeface="Cambria" pitchFamily="34" charset="-120"/>
              </a:rPr>
              <a:t>2</a:t>
            </a:r>
            <a:endParaRPr lang="en-US" sz="3800" dirty="0"/>
          </a:p>
        </p:txBody>
      </p:sp>
      <p:sp>
        <p:nvSpPr>
          <p:cNvPr id="11" name="Text 9"/>
          <p:cNvSpPr txBox="1"/>
          <p:nvPr/>
        </p:nvSpPr>
        <p:spPr>
          <a:xfrm>
            <a:off x="594360" y="4023360"/>
            <a:ext cx="2377440" cy="365760"/>
          </a:xfrm>
          <a:prstGeom prst="rect">
            <a:avLst/>
          </a:prstGeom>
          <a:noFill/>
          <a:ln/>
        </p:spPr>
        <p:txBody>
          <a:bodyPr wrap="square" lIns="0" tIns="0" rIns="0" bIns="0" rtlCol="0" anchor="t"/>
          <a:lstStyle/>
          <a:p>
            <a:pPr marL="0" indent="0" algn="ctr">
              <a:buNone/>
            </a:pPr>
            <a:r>
              <a:rPr lang="en-US" sz="1400" dirty="0">
                <a:solidFill>
                  <a:schemeClr val="accent5"/>
                </a:solidFill>
              </a:rPr>
              <a:t>targets: d50, σ²</a:t>
            </a:r>
            <a:endParaRPr lang="en-US" sz="1400" dirty="0"/>
          </a:p>
        </p:txBody>
      </p:sp>
      <p:sp>
        <p:nvSpPr>
          <p:cNvPr id="12" name="Stat 4"/>
          <p:cNvSpPr/>
          <p:nvPr/>
        </p:nvSpPr>
        <p:spPr>
          <a:xfrm>
            <a:off x="3200400" y="3200400"/>
            <a:ext cx="2377440" cy="1371600"/>
          </a:xfrm>
          <a:prstGeom prst="roundRect">
            <a:avLst>
              <a:gd name="adj" fmla="val 5333"/>
            </a:avLst>
          </a:prstGeom>
          <a:solidFill>
            <a:schemeClr val="bg2"/>
          </a:solidFill>
          <a:ln w="12700">
            <a:solidFill>
              <a:schemeClr val="bg2"/>
            </a:solidFill>
            <a:prstDash val="solid"/>
          </a:ln>
        </p:spPr>
      </p:sp>
      <p:sp>
        <p:nvSpPr>
          <p:cNvPr id="13" name="Text 11"/>
          <p:cNvSpPr txBox="1"/>
          <p:nvPr/>
        </p:nvSpPr>
        <p:spPr>
          <a:xfrm>
            <a:off x="3200400" y="3310128"/>
            <a:ext cx="2377440" cy="685800"/>
          </a:xfrm>
          <a:prstGeom prst="rect">
            <a:avLst/>
          </a:prstGeom>
          <a:noFill/>
          <a:ln/>
        </p:spPr>
        <p:txBody>
          <a:bodyPr wrap="square" lIns="0" tIns="0" rIns="0" bIns="0" rtlCol="0" anchor="t"/>
          <a:lstStyle/>
          <a:p>
            <a:pPr marL="0" indent="0" algn="ctr">
              <a:buNone/>
            </a:pPr>
            <a:r>
              <a:rPr lang="en-US" sz="3800" b="1" dirty="0">
                <a:solidFill>
                  <a:schemeClr val="accent1"/>
                </a:solidFill>
                <a:latin typeface="Cambria" pitchFamily="34" charset="0"/>
                <a:ea typeface="Cambria" pitchFamily="34" charset="-122"/>
                <a:cs typeface="Cambria" pitchFamily="34" charset="-120"/>
              </a:rPr>
              <a:t>80 / 20</a:t>
            </a:r>
            <a:endParaRPr lang="en-US" sz="3800" dirty="0"/>
          </a:p>
        </p:txBody>
      </p:sp>
      <p:sp>
        <p:nvSpPr>
          <p:cNvPr id="14" name="Text 12"/>
          <p:cNvSpPr txBox="1"/>
          <p:nvPr/>
        </p:nvSpPr>
        <p:spPr>
          <a:xfrm>
            <a:off x="3200400" y="4023360"/>
            <a:ext cx="2377440" cy="365760"/>
          </a:xfrm>
          <a:prstGeom prst="rect">
            <a:avLst/>
          </a:prstGeom>
          <a:noFill/>
          <a:ln/>
        </p:spPr>
        <p:txBody>
          <a:bodyPr wrap="square" lIns="0" tIns="0" rIns="0" bIns="0" rtlCol="0" anchor="t"/>
          <a:lstStyle/>
          <a:p>
            <a:pPr marL="0" indent="0" algn="ctr">
              <a:buNone/>
            </a:pPr>
            <a:r>
              <a:rPr lang="en-US" sz="1400" dirty="0">
                <a:solidFill>
                  <a:schemeClr val="accent5"/>
                </a:solidFill>
              </a:rPr>
              <a:t>train / test split</a:t>
            </a:r>
            <a:endParaRPr lang="en-US" sz="1400" dirty="0"/>
          </a:p>
        </p:txBody>
      </p:sp>
      <p:sp>
        <p:nvSpPr>
          <p:cNvPr id="15" name="Text 13"/>
          <p:cNvSpPr txBox="1"/>
          <p:nvPr/>
        </p:nvSpPr>
        <p:spPr>
          <a:xfrm>
            <a:off x="6309360" y="1600200"/>
            <a:ext cx="5303520" cy="320040"/>
          </a:xfrm>
          <a:prstGeom prst="rect">
            <a:avLst/>
          </a:prstGeom>
          <a:noFill/>
          <a:ln/>
        </p:spPr>
        <p:txBody>
          <a:bodyPr wrap="square" lIns="0" tIns="0" rIns="0" bIns="0" rtlCol="0" anchor="t"/>
          <a:lstStyle/>
          <a:p>
            <a:pPr marL="0" indent="0">
              <a:buNone/>
            </a:pPr>
            <a:r>
              <a:rPr lang="en-US" sz="1800" b="1" dirty="0">
                <a:solidFill>
                  <a:schemeClr val="tx1"/>
                </a:solidFill>
              </a:rPr>
              <a:t>Hydrodynamic</a:t>
            </a:r>
            <a:endParaRPr lang="en-US" sz="1800" dirty="0"/>
          </a:p>
        </p:txBody>
      </p:sp>
      <p:sp>
        <p:nvSpPr>
          <p:cNvPr id="16" name="Text 14"/>
          <p:cNvSpPr txBox="1"/>
          <p:nvPr/>
        </p:nvSpPr>
        <p:spPr>
          <a:xfrm>
            <a:off x="6309360" y="1947672"/>
            <a:ext cx="5303520" cy="548640"/>
          </a:xfrm>
          <a:prstGeom prst="rect">
            <a:avLst/>
          </a:prstGeom>
          <a:noFill/>
          <a:ln/>
        </p:spPr>
        <p:txBody>
          <a:bodyPr wrap="square" lIns="0" tIns="0" rIns="0" bIns="0" rtlCol="0" anchor="t"/>
          <a:lstStyle/>
          <a:p>
            <a:pPr marL="0" indent="0">
              <a:buNone/>
            </a:pPr>
            <a:r>
              <a:rPr lang="en-US" sz="1600" dirty="0">
                <a:solidFill>
                  <a:schemeClr val="accent5"/>
                </a:solidFill>
              </a:rPr>
              <a:t>wave-induced velocity, mean tidal velocity</a:t>
            </a:r>
            <a:endParaRPr lang="en-US" sz="1600" dirty="0"/>
          </a:p>
        </p:txBody>
      </p:sp>
      <p:sp>
        <p:nvSpPr>
          <p:cNvPr id="17" name="Text 15"/>
          <p:cNvSpPr txBox="1"/>
          <p:nvPr/>
        </p:nvSpPr>
        <p:spPr>
          <a:xfrm>
            <a:off x="6309360" y="2624328"/>
            <a:ext cx="5303520" cy="320040"/>
          </a:xfrm>
          <a:prstGeom prst="rect">
            <a:avLst/>
          </a:prstGeom>
          <a:noFill/>
          <a:ln/>
        </p:spPr>
        <p:txBody>
          <a:bodyPr wrap="square" lIns="0" tIns="0" rIns="0" bIns="0" rtlCol="0" anchor="t"/>
          <a:lstStyle/>
          <a:p>
            <a:pPr marL="0" indent="0">
              <a:buNone/>
            </a:pPr>
            <a:r>
              <a:rPr lang="en-US" sz="1800" b="1" dirty="0">
                <a:solidFill>
                  <a:schemeClr val="tx1"/>
                </a:solidFill>
              </a:rPr>
              <a:t>Water chemistry</a:t>
            </a:r>
            <a:endParaRPr lang="en-US" sz="1800" dirty="0"/>
          </a:p>
        </p:txBody>
      </p:sp>
      <p:sp>
        <p:nvSpPr>
          <p:cNvPr id="18" name="Text 16"/>
          <p:cNvSpPr txBox="1"/>
          <p:nvPr/>
        </p:nvSpPr>
        <p:spPr>
          <a:xfrm>
            <a:off x="6309360" y="2971800"/>
            <a:ext cx="5303520" cy="548640"/>
          </a:xfrm>
          <a:prstGeom prst="rect">
            <a:avLst/>
          </a:prstGeom>
          <a:noFill/>
          <a:ln/>
        </p:spPr>
        <p:txBody>
          <a:bodyPr wrap="square" lIns="0" tIns="0" rIns="0" bIns="0" rtlCol="0" anchor="t"/>
          <a:lstStyle/>
          <a:p>
            <a:pPr marL="0" indent="0">
              <a:buNone/>
            </a:pPr>
            <a:r>
              <a:rPr lang="en-US" sz="1600" dirty="0">
                <a:solidFill>
                  <a:schemeClr val="accent5"/>
                </a:solidFill>
              </a:rPr>
              <a:t>salinity, temperature</a:t>
            </a:r>
            <a:endParaRPr lang="en-US" sz="1600" dirty="0"/>
          </a:p>
        </p:txBody>
      </p:sp>
      <p:sp>
        <p:nvSpPr>
          <p:cNvPr id="19" name="Text 17"/>
          <p:cNvSpPr txBox="1"/>
          <p:nvPr/>
        </p:nvSpPr>
        <p:spPr>
          <a:xfrm>
            <a:off x="6309360" y="3648456"/>
            <a:ext cx="5303520" cy="320040"/>
          </a:xfrm>
          <a:prstGeom prst="rect">
            <a:avLst/>
          </a:prstGeom>
          <a:noFill/>
          <a:ln/>
        </p:spPr>
        <p:txBody>
          <a:bodyPr wrap="square" lIns="0" tIns="0" rIns="0" bIns="0" rtlCol="0" anchor="t"/>
          <a:lstStyle/>
          <a:p>
            <a:pPr marL="0" indent="0">
              <a:buNone/>
            </a:pPr>
            <a:r>
              <a:rPr lang="en-US" sz="1800" b="1" dirty="0">
                <a:solidFill>
                  <a:schemeClr val="tx1"/>
                </a:solidFill>
              </a:rPr>
              <a:t>Optical / biological</a:t>
            </a:r>
            <a:endParaRPr lang="en-US" sz="1800" dirty="0"/>
          </a:p>
        </p:txBody>
      </p:sp>
      <p:sp>
        <p:nvSpPr>
          <p:cNvPr id="20" name="Text 18"/>
          <p:cNvSpPr txBox="1"/>
          <p:nvPr/>
        </p:nvSpPr>
        <p:spPr>
          <a:xfrm>
            <a:off x="6309360" y="3995928"/>
            <a:ext cx="5303520" cy="548640"/>
          </a:xfrm>
          <a:prstGeom prst="rect">
            <a:avLst/>
          </a:prstGeom>
          <a:noFill/>
          <a:ln/>
        </p:spPr>
        <p:txBody>
          <a:bodyPr wrap="square" lIns="0" tIns="0" rIns="0" bIns="0" rtlCol="0" anchor="t"/>
          <a:lstStyle/>
          <a:p>
            <a:pPr marL="0" indent="0">
              <a:buNone/>
            </a:pPr>
            <a:r>
              <a:rPr lang="en-US" sz="1600" dirty="0">
                <a:solidFill>
                  <a:schemeClr val="accent5"/>
                </a:solidFill>
              </a:rPr>
              <a:t>particle refractive index, chlorophyll-a, two optical peak ratios</a:t>
            </a:r>
            <a:endParaRPr lang="en-US" sz="1600" dirty="0"/>
          </a:p>
        </p:txBody>
      </p:sp>
      <p:sp>
        <p:nvSpPr>
          <p:cNvPr id="21" name="Synthetic note"/>
          <p:cNvSpPr/>
          <p:nvPr/>
        </p:nvSpPr>
        <p:spPr>
          <a:xfrm>
            <a:off x="594360" y="4937760"/>
            <a:ext cx="11000232" cy="1188720"/>
          </a:xfrm>
          <a:prstGeom prst="roundRect">
            <a:avLst>
              <a:gd name="adj" fmla="val 6154"/>
            </a:avLst>
          </a:prstGeom>
          <a:solidFill>
            <a:schemeClr val="bg2"/>
          </a:solidFill>
          <a:ln w="12700">
            <a:solidFill>
              <a:schemeClr val="bg2"/>
            </a:solidFill>
            <a:prstDash val="solid"/>
          </a:ln>
        </p:spPr>
      </p:sp>
      <p:sp>
        <p:nvSpPr>
          <p:cNvPr id="22" name="Text 20"/>
          <p:cNvSpPr txBox="1"/>
          <p:nvPr/>
        </p:nvSpPr>
        <p:spPr>
          <a:xfrm>
            <a:off x="868680" y="4937760"/>
            <a:ext cx="10451592" cy="1188720"/>
          </a:xfrm>
          <a:prstGeom prst="rect">
            <a:avLst/>
          </a:prstGeom>
          <a:noFill/>
          <a:ln/>
        </p:spPr>
        <p:txBody>
          <a:bodyPr wrap="square" lIns="0" tIns="0" rIns="0" bIns="0" rtlCol="0" anchor="ctr"/>
          <a:lstStyle/>
          <a:p>
            <a:pPr marL="0" indent="0">
              <a:buNone/>
            </a:pPr>
            <a:r>
              <a:rPr lang="en-US" sz="1600" b="1" dirty="0">
                <a:solidFill>
                  <a:schemeClr val="tx1"/>
                </a:solidFill>
              </a:rPr>
              <a:t>Synthetic by design. </a:t>
            </a:r>
            <a:r>
              <a:rPr lang="en-US" sz="1600" dirty="0">
                <a:solidFill>
                  <a:schemeClr val="tx1"/>
                </a:solidFill>
              </a:rPr>
              <a:t>Targets are illustrative functions of the inputs plus Gaussian noise (σ = 12 µm for d50, 8 µm² for σ²), not validated sediment physics. The noise sets a ceiling on achievable R²: </a:t>
            </a:r>
            <a:r>
              <a:rPr lang="en-US" sz="1600" b="1" dirty="0">
                <a:solidFill>
                  <a:schemeClr val="tx1"/>
                </a:solidFill>
              </a:rPr>
              <a:t>0.930 for d50, 0.958 for σ²</a:t>
            </a:r>
            <a:endParaRPr lang="en-US" sz="1600" dirty="0"/>
          </a:p>
        </p:txBody>
      </p:sp>
      <p:sp>
        <p:nvSpPr>
          <p:cNvPr id="25" name="Slide Number Placeholder 0"/>
          <p:cNvSpPr>
            <a:spLocks noGrp="1"/>
          </p:cNvSpPr>
          <p:nvPr>
            <p:ph type="sldNum" sz="quarter" idx="4294967295"/>
          </p:nvPr>
        </p:nvSpPr>
        <p:spPr>
          <a:xfrm>
            <a:off x="11045952"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94360" y="411480"/>
            <a:ext cx="11000232" cy="868680"/>
          </a:xfrm>
          <a:prstGeom prst="rect">
            <a:avLst/>
          </a:prstGeom>
          <a:noFill/>
          <a:ln/>
        </p:spPr>
        <p:txBody>
          <a:bodyPr wrap="square" lIns="0" tIns="0" rIns="0" bIns="0" rtlCol="0" anchor="ctr"/>
          <a:lstStyle/>
          <a:p>
            <a:pPr marL="0" indent="0" algn="l">
              <a:buNone/>
            </a:pPr>
            <a:r>
              <a:rPr lang="en-US" sz="3200" b="1" dirty="0">
                <a:solidFill>
                  <a:schemeClr val="tx1"/>
                </a:solidFill>
              </a:rPr>
              <a:t>Salinity and temperature drive both targets</a:t>
            </a:r>
            <a:endParaRPr lang="en-US" sz="3200" dirty="0"/>
          </a:p>
        </p:txBody>
      </p:sp>
      <p:pic>
        <p:nvPicPr>
          <p:cNvPr id="3" name="Image 0" descr="Correlation heatmap and distributions of d50 and variance"/>
          <p:cNvPicPr>
            <a:picLocks noChangeAspect="1"/>
          </p:cNvPicPr>
          <p:nvPr/>
        </p:nvPicPr>
        <p:blipFill>
          <a:blip r:embed="rId3"/>
          <a:stretch>
            <a:fillRect/>
          </a:stretch>
        </p:blipFill>
        <p:spPr>
          <a:xfrm>
            <a:off x="1097280" y="1417320"/>
            <a:ext cx="9966960" cy="2691079"/>
          </a:xfrm>
          <a:prstGeom prst="rect">
            <a:avLst/>
          </a:prstGeom>
        </p:spPr>
      </p:pic>
      <p:sp>
        <p:nvSpPr>
          <p:cNvPr id="4" name="Text 1"/>
          <p:cNvSpPr txBox="1"/>
          <p:nvPr/>
        </p:nvSpPr>
        <p:spPr>
          <a:xfrm>
            <a:off x="594360" y="4434840"/>
            <a:ext cx="3474720" cy="320040"/>
          </a:xfrm>
          <a:prstGeom prst="rect">
            <a:avLst/>
          </a:prstGeom>
          <a:noFill/>
          <a:ln/>
        </p:spPr>
        <p:txBody>
          <a:bodyPr wrap="square" lIns="0" tIns="0" rIns="0" bIns="0" rtlCol="0" anchor="t"/>
          <a:lstStyle/>
          <a:p>
            <a:pPr marL="0" indent="0">
              <a:buNone/>
            </a:pPr>
            <a:r>
              <a:rPr lang="en-US" sz="1800" b="1" dirty="0">
                <a:solidFill>
                  <a:schemeClr val="accent1"/>
                </a:solidFill>
              </a:rPr>
              <a:t>Positive drivers</a:t>
            </a:r>
            <a:endParaRPr lang="en-US" sz="1800" dirty="0"/>
          </a:p>
        </p:txBody>
      </p:sp>
      <p:sp>
        <p:nvSpPr>
          <p:cNvPr id="5" name="Text 2"/>
          <p:cNvSpPr txBox="1"/>
          <p:nvPr/>
        </p:nvSpPr>
        <p:spPr>
          <a:xfrm>
            <a:off x="594360" y="4800600"/>
            <a:ext cx="3474720" cy="1280160"/>
          </a:xfrm>
          <a:prstGeom prst="rect">
            <a:avLst/>
          </a:prstGeom>
          <a:noFill/>
          <a:ln/>
        </p:spPr>
        <p:txBody>
          <a:bodyPr wrap="square" lIns="0" tIns="0" rIns="0" bIns="0" rtlCol="0" anchor="t"/>
          <a:lstStyle/>
          <a:p>
            <a:pPr marL="0" indent="0">
              <a:buNone/>
            </a:pPr>
            <a:r>
              <a:rPr lang="en-US" sz="1500" dirty="0">
                <a:solidFill>
                  <a:schemeClr val="tx1"/>
                </a:solidFill>
              </a:rPr>
              <a:t>Salinity and temperature correlate positively with both d50 and σ².</a:t>
            </a:r>
            <a:endParaRPr lang="en-US" sz="1500" dirty="0"/>
          </a:p>
        </p:txBody>
      </p:sp>
      <p:sp>
        <p:nvSpPr>
          <p:cNvPr id="6" name="Text 3"/>
          <p:cNvSpPr txBox="1"/>
          <p:nvPr/>
        </p:nvSpPr>
        <p:spPr>
          <a:xfrm>
            <a:off x="4343400" y="4434840"/>
            <a:ext cx="3474720" cy="320040"/>
          </a:xfrm>
          <a:prstGeom prst="rect">
            <a:avLst/>
          </a:prstGeom>
          <a:noFill/>
          <a:ln/>
        </p:spPr>
        <p:txBody>
          <a:bodyPr wrap="square" lIns="0" tIns="0" rIns="0" bIns="0" rtlCol="0" anchor="t"/>
          <a:lstStyle/>
          <a:p>
            <a:pPr marL="0" indent="0">
              <a:buNone/>
            </a:pPr>
            <a:r>
              <a:rPr lang="en-US" sz="1800" b="1" dirty="0">
                <a:solidFill>
                  <a:schemeClr val="accent1"/>
                </a:solidFill>
              </a:rPr>
              <a:t>Wave velocity</a:t>
            </a:r>
            <a:endParaRPr lang="en-US" sz="1800" dirty="0"/>
          </a:p>
        </p:txBody>
      </p:sp>
      <p:sp>
        <p:nvSpPr>
          <p:cNvPr id="7" name="Text 4"/>
          <p:cNvSpPr txBox="1"/>
          <p:nvPr/>
        </p:nvSpPr>
        <p:spPr>
          <a:xfrm>
            <a:off x="4343400" y="4800600"/>
            <a:ext cx="3474720" cy="1280160"/>
          </a:xfrm>
          <a:prstGeom prst="rect">
            <a:avLst/>
          </a:prstGeom>
          <a:noFill/>
          <a:ln/>
        </p:spPr>
        <p:txBody>
          <a:bodyPr wrap="square" lIns="0" tIns="0" rIns="0" bIns="0" rtlCol="0" anchor="t"/>
          <a:lstStyle/>
          <a:p>
            <a:pPr marL="0" indent="0">
              <a:buNone/>
            </a:pPr>
            <a:r>
              <a:rPr lang="en-US" sz="1500" dirty="0">
                <a:solidFill>
                  <a:schemeClr val="tx1"/>
                </a:solidFill>
              </a:rPr>
              <a:t>Correlates −0.43 with d50 but +0.39 with σ²: the wave × salinity interaction wins for d50.</a:t>
            </a:r>
            <a:endParaRPr lang="en-US" sz="1500" dirty="0"/>
          </a:p>
        </p:txBody>
      </p:sp>
      <p:sp>
        <p:nvSpPr>
          <p:cNvPr id="8" name="Text 5"/>
          <p:cNvSpPr txBox="1"/>
          <p:nvPr/>
        </p:nvSpPr>
        <p:spPr>
          <a:xfrm>
            <a:off x="8092440" y="4434840"/>
            <a:ext cx="3474720" cy="320040"/>
          </a:xfrm>
          <a:prstGeom prst="rect">
            <a:avLst/>
          </a:prstGeom>
          <a:noFill/>
          <a:ln/>
        </p:spPr>
        <p:txBody>
          <a:bodyPr wrap="square" lIns="0" tIns="0" rIns="0" bIns="0" rtlCol="0" anchor="t"/>
          <a:lstStyle/>
          <a:p>
            <a:pPr marL="0" indent="0">
              <a:buNone/>
            </a:pPr>
            <a:r>
              <a:rPr lang="en-US" sz="1800" b="1" dirty="0">
                <a:solidFill>
                  <a:schemeClr val="accent1"/>
                </a:solidFill>
              </a:rPr>
              <a:t>Weak features</a:t>
            </a:r>
            <a:endParaRPr lang="en-US" sz="1800" dirty="0"/>
          </a:p>
        </p:txBody>
      </p:sp>
      <p:sp>
        <p:nvSpPr>
          <p:cNvPr id="9" name="Text 6"/>
          <p:cNvSpPr txBox="1"/>
          <p:nvPr/>
        </p:nvSpPr>
        <p:spPr>
          <a:xfrm>
            <a:off x="8092440" y="4800600"/>
            <a:ext cx="3474720" cy="1280160"/>
          </a:xfrm>
          <a:prstGeom prst="rect">
            <a:avLst/>
          </a:prstGeom>
          <a:noFill/>
          <a:ln/>
        </p:spPr>
        <p:txBody>
          <a:bodyPr wrap="square" lIns="0" tIns="0" rIns="0" bIns="0" rtlCol="0" anchor="t"/>
          <a:lstStyle/>
          <a:p>
            <a:pPr marL="0" indent="0">
              <a:buNone/>
            </a:pPr>
            <a:r>
              <a:rPr lang="en-US" sz="1500" dirty="0">
                <a:solidFill>
                  <a:schemeClr val="tx1"/>
                </a:solidFill>
              </a:rPr>
              <a:t>Tidal velocity, chlorophyll-a and the two optical ratios are near zero correlation.</a:t>
            </a:r>
            <a:endParaRPr lang="en-US" sz="1500" dirty="0"/>
          </a:p>
        </p:txBody>
      </p:sp>
      <p:sp>
        <p:nvSpPr>
          <p:cNvPr id="25" name="Slide Number Placeholder 0"/>
          <p:cNvSpPr>
            <a:spLocks noGrp="1"/>
          </p:cNvSpPr>
          <p:nvPr>
            <p:ph type="sldNum" sz="quarter" idx="4294967295"/>
          </p:nvPr>
        </p:nvSpPr>
        <p:spPr>
          <a:xfrm>
            <a:off x="11045952"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94360" y="411480"/>
            <a:ext cx="11000232" cy="868680"/>
          </a:xfrm>
          <a:prstGeom prst="rect">
            <a:avLst/>
          </a:prstGeom>
          <a:noFill/>
          <a:ln/>
        </p:spPr>
        <p:txBody>
          <a:bodyPr wrap="square" lIns="0" tIns="0" rIns="0" bIns="0" rtlCol="0" anchor="ctr"/>
          <a:lstStyle/>
          <a:p>
            <a:pPr marL="0" indent="0" algn="l">
              <a:buNone/>
            </a:pPr>
            <a:r>
              <a:rPr lang="en-US" sz="3200" b="1" dirty="0">
                <a:solidFill>
                  <a:schemeClr val="tx1"/>
                </a:solidFill>
              </a:rPr>
              <a:t>Five steps, test set touched only once</a:t>
            </a:r>
            <a:endParaRPr lang="en-US" sz="3200" dirty="0"/>
          </a:p>
        </p:txBody>
      </p:sp>
      <p:sp>
        <p:nvSpPr>
          <p:cNvPr id="3" name="Step card 1"/>
          <p:cNvSpPr/>
          <p:nvPr/>
        </p:nvSpPr>
        <p:spPr>
          <a:xfrm>
            <a:off x="594360" y="1737360"/>
            <a:ext cx="2011680" cy="2377440"/>
          </a:xfrm>
          <a:prstGeom prst="roundRect">
            <a:avLst>
              <a:gd name="adj" fmla="val 3636"/>
            </a:avLst>
          </a:prstGeom>
          <a:solidFill>
            <a:schemeClr val="bg2"/>
          </a:solidFill>
          <a:ln w="12700">
            <a:solidFill>
              <a:schemeClr val="bg2"/>
            </a:solidFill>
            <a:prstDash val="solid"/>
          </a:ln>
        </p:spPr>
      </p:sp>
      <p:sp>
        <p:nvSpPr>
          <p:cNvPr id="4" name="Step number 1"/>
          <p:cNvSpPr/>
          <p:nvPr/>
        </p:nvSpPr>
        <p:spPr>
          <a:xfrm>
            <a:off x="822960" y="1965960"/>
            <a:ext cx="548640" cy="548640"/>
          </a:xfrm>
          <a:prstGeom prst="ellipse">
            <a:avLst/>
          </a:prstGeom>
          <a:solidFill>
            <a:schemeClr val="accent1"/>
          </a:solidFill>
          <a:ln w="12700">
            <a:solidFill>
              <a:schemeClr val="accent1"/>
            </a:solidFill>
            <a:prstDash val="solid"/>
          </a:ln>
        </p:spPr>
      </p:sp>
      <p:sp>
        <p:nvSpPr>
          <p:cNvPr id="5" name="Text 3"/>
          <p:cNvSpPr txBox="1"/>
          <p:nvPr/>
        </p:nvSpPr>
        <p:spPr>
          <a:xfrm>
            <a:off x="822960" y="196596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6" name="Text 4"/>
          <p:cNvSpPr txBox="1"/>
          <p:nvPr/>
        </p:nvSpPr>
        <p:spPr>
          <a:xfrm>
            <a:off x="822960" y="2743200"/>
            <a:ext cx="1554480" cy="365760"/>
          </a:xfrm>
          <a:prstGeom prst="rect">
            <a:avLst/>
          </a:prstGeom>
          <a:noFill/>
          <a:ln/>
        </p:spPr>
        <p:txBody>
          <a:bodyPr wrap="square" lIns="0" tIns="0" rIns="0" bIns="0" rtlCol="0" anchor="t"/>
          <a:lstStyle/>
          <a:p>
            <a:pPr marL="0" indent="0">
              <a:buNone/>
            </a:pPr>
            <a:r>
              <a:rPr lang="en-US" sz="1800" b="1" dirty="0">
                <a:solidFill>
                  <a:schemeClr val="tx1"/>
                </a:solidFill>
              </a:rPr>
              <a:t>Split</a:t>
            </a:r>
            <a:endParaRPr lang="en-US" sz="1800" dirty="0"/>
          </a:p>
        </p:txBody>
      </p:sp>
      <p:sp>
        <p:nvSpPr>
          <p:cNvPr id="7" name="Text 5"/>
          <p:cNvSpPr txBox="1"/>
          <p:nvPr/>
        </p:nvSpPr>
        <p:spPr>
          <a:xfrm>
            <a:off x="822960" y="3200400"/>
            <a:ext cx="1554480" cy="1188720"/>
          </a:xfrm>
          <a:prstGeom prst="rect">
            <a:avLst/>
          </a:prstGeom>
          <a:noFill/>
          <a:ln/>
        </p:spPr>
        <p:txBody>
          <a:bodyPr wrap="square" lIns="0" tIns="0" rIns="0" bIns="0" rtlCol="0" anchor="t"/>
          <a:lstStyle/>
          <a:p>
            <a:pPr marL="0" indent="0">
              <a:buNone/>
            </a:pPr>
            <a:r>
              <a:rPr lang="en-US" sz="1400" dirty="0">
                <a:solidFill>
                  <a:schemeClr val="accent5"/>
                </a:solidFill>
              </a:rPr>
              <a:t>20 % test set held out; everything else for tuning.</a:t>
            </a:r>
            <a:endParaRPr lang="en-US" sz="1400" dirty="0"/>
          </a:p>
        </p:txBody>
      </p:sp>
      <p:sp>
        <p:nvSpPr>
          <p:cNvPr id="8" name="Step card 2"/>
          <p:cNvSpPr/>
          <p:nvPr/>
        </p:nvSpPr>
        <p:spPr>
          <a:xfrm>
            <a:off x="2857500" y="1737360"/>
            <a:ext cx="2011680" cy="2377440"/>
          </a:xfrm>
          <a:prstGeom prst="roundRect">
            <a:avLst>
              <a:gd name="adj" fmla="val 3636"/>
            </a:avLst>
          </a:prstGeom>
          <a:solidFill>
            <a:schemeClr val="bg2"/>
          </a:solidFill>
          <a:ln w="12700">
            <a:solidFill>
              <a:schemeClr val="bg2"/>
            </a:solidFill>
            <a:prstDash val="solid"/>
          </a:ln>
        </p:spPr>
      </p:sp>
      <p:sp>
        <p:nvSpPr>
          <p:cNvPr id="9" name="Step number 2"/>
          <p:cNvSpPr/>
          <p:nvPr/>
        </p:nvSpPr>
        <p:spPr>
          <a:xfrm>
            <a:off x="3086100" y="1965960"/>
            <a:ext cx="548640" cy="548640"/>
          </a:xfrm>
          <a:prstGeom prst="ellipse">
            <a:avLst/>
          </a:prstGeom>
          <a:solidFill>
            <a:schemeClr val="accent1"/>
          </a:solidFill>
          <a:ln w="12700">
            <a:solidFill>
              <a:schemeClr val="accent1"/>
            </a:solidFill>
            <a:prstDash val="solid"/>
          </a:ln>
        </p:spPr>
      </p:sp>
      <p:sp>
        <p:nvSpPr>
          <p:cNvPr id="10" name="Text 8"/>
          <p:cNvSpPr txBox="1"/>
          <p:nvPr/>
        </p:nvSpPr>
        <p:spPr>
          <a:xfrm>
            <a:off x="3086100" y="196596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1" name="Text 9"/>
          <p:cNvSpPr txBox="1"/>
          <p:nvPr/>
        </p:nvSpPr>
        <p:spPr>
          <a:xfrm>
            <a:off x="3086100" y="2743200"/>
            <a:ext cx="1554480" cy="365760"/>
          </a:xfrm>
          <a:prstGeom prst="rect">
            <a:avLst/>
          </a:prstGeom>
          <a:noFill/>
          <a:ln/>
        </p:spPr>
        <p:txBody>
          <a:bodyPr wrap="square" lIns="0" tIns="0" rIns="0" bIns="0" rtlCol="0" anchor="t"/>
          <a:lstStyle/>
          <a:p>
            <a:pPr marL="0" indent="0">
              <a:buNone/>
            </a:pPr>
            <a:r>
              <a:rPr lang="en-US" sz="1800" b="1" dirty="0">
                <a:solidFill>
                  <a:schemeClr val="tx1"/>
                </a:solidFill>
              </a:rPr>
              <a:t>Select features</a:t>
            </a:r>
            <a:endParaRPr lang="en-US" sz="1800" dirty="0"/>
          </a:p>
        </p:txBody>
      </p:sp>
      <p:sp>
        <p:nvSpPr>
          <p:cNvPr id="12" name="Text 10"/>
          <p:cNvSpPr txBox="1"/>
          <p:nvPr/>
        </p:nvSpPr>
        <p:spPr>
          <a:xfrm>
            <a:off x="3086100" y="3200400"/>
            <a:ext cx="1554480" cy="1188720"/>
          </a:xfrm>
          <a:prstGeom prst="rect">
            <a:avLst/>
          </a:prstGeom>
          <a:noFill/>
          <a:ln/>
        </p:spPr>
        <p:txBody>
          <a:bodyPr wrap="square" lIns="0" tIns="0" rIns="0" bIns="0" rtlCol="0" anchor="t"/>
          <a:lstStyle/>
          <a:p>
            <a:pPr marL="0" indent="0">
              <a:buNone/>
            </a:pPr>
            <a:r>
              <a:rPr lang="en-US" sz="1400" dirty="0">
                <a:solidFill>
                  <a:schemeClr val="accent5"/>
                </a:solidFill>
              </a:rPr>
              <a:t>Random Forest importance, keep the top 4.</a:t>
            </a:r>
            <a:endParaRPr lang="en-US" sz="1400" dirty="0"/>
          </a:p>
        </p:txBody>
      </p:sp>
      <p:sp>
        <p:nvSpPr>
          <p:cNvPr id="13" name="Step card 3"/>
          <p:cNvSpPr/>
          <p:nvPr/>
        </p:nvSpPr>
        <p:spPr>
          <a:xfrm>
            <a:off x="5120640" y="1737360"/>
            <a:ext cx="2011680" cy="2377440"/>
          </a:xfrm>
          <a:prstGeom prst="roundRect">
            <a:avLst>
              <a:gd name="adj" fmla="val 3636"/>
            </a:avLst>
          </a:prstGeom>
          <a:solidFill>
            <a:schemeClr val="bg2"/>
          </a:solidFill>
          <a:ln w="12700">
            <a:solidFill>
              <a:schemeClr val="bg2"/>
            </a:solidFill>
            <a:prstDash val="solid"/>
          </a:ln>
        </p:spPr>
      </p:sp>
      <p:sp>
        <p:nvSpPr>
          <p:cNvPr id="14" name="Step number 3"/>
          <p:cNvSpPr/>
          <p:nvPr/>
        </p:nvSpPr>
        <p:spPr>
          <a:xfrm>
            <a:off x="5349240" y="1965960"/>
            <a:ext cx="548640" cy="548640"/>
          </a:xfrm>
          <a:prstGeom prst="ellipse">
            <a:avLst/>
          </a:prstGeom>
          <a:solidFill>
            <a:schemeClr val="accent1"/>
          </a:solidFill>
          <a:ln w="12700">
            <a:solidFill>
              <a:schemeClr val="accent1"/>
            </a:solidFill>
            <a:prstDash val="solid"/>
          </a:ln>
        </p:spPr>
      </p:sp>
      <p:sp>
        <p:nvSpPr>
          <p:cNvPr id="15" name="Text 13"/>
          <p:cNvSpPr txBox="1"/>
          <p:nvPr/>
        </p:nvSpPr>
        <p:spPr>
          <a:xfrm>
            <a:off x="5349240" y="196596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6" name="Text 14"/>
          <p:cNvSpPr txBox="1"/>
          <p:nvPr/>
        </p:nvSpPr>
        <p:spPr>
          <a:xfrm>
            <a:off x="5349240" y="2743200"/>
            <a:ext cx="1554480" cy="365760"/>
          </a:xfrm>
          <a:prstGeom prst="rect">
            <a:avLst/>
          </a:prstGeom>
          <a:noFill/>
          <a:ln/>
        </p:spPr>
        <p:txBody>
          <a:bodyPr wrap="square" lIns="0" tIns="0" rIns="0" bIns="0" rtlCol="0" anchor="t"/>
          <a:lstStyle/>
          <a:p>
            <a:pPr marL="0" indent="0">
              <a:buNone/>
            </a:pPr>
            <a:r>
              <a:rPr lang="en-US" sz="1800" b="1" dirty="0">
                <a:solidFill>
                  <a:schemeClr val="tx1"/>
                </a:solidFill>
              </a:rPr>
              <a:t>Tune RF</a:t>
            </a:r>
            <a:endParaRPr lang="en-US" sz="1800" dirty="0"/>
          </a:p>
        </p:txBody>
      </p:sp>
      <p:sp>
        <p:nvSpPr>
          <p:cNvPr id="17" name="Text 15"/>
          <p:cNvSpPr txBox="1"/>
          <p:nvPr/>
        </p:nvSpPr>
        <p:spPr>
          <a:xfrm>
            <a:off x="5349240" y="3200400"/>
            <a:ext cx="1554480" cy="1188720"/>
          </a:xfrm>
          <a:prstGeom prst="rect">
            <a:avLst/>
          </a:prstGeom>
          <a:noFill/>
          <a:ln/>
        </p:spPr>
        <p:txBody>
          <a:bodyPr wrap="square" lIns="0" tIns="0" rIns="0" bIns="0" rtlCol="0" anchor="t"/>
          <a:lstStyle/>
          <a:p>
            <a:pPr marL="0" indent="0">
              <a:buNone/>
            </a:pPr>
            <a:r>
              <a:rPr lang="en-US" sz="1400" dirty="0">
                <a:solidFill>
                  <a:schemeClr val="accent5"/>
                </a:solidFill>
              </a:rPr>
              <a:t>Number of trees from the out-of-bag score.</a:t>
            </a:r>
            <a:endParaRPr lang="en-US" sz="1400" dirty="0"/>
          </a:p>
        </p:txBody>
      </p:sp>
      <p:sp>
        <p:nvSpPr>
          <p:cNvPr id="18" name="Step card 4"/>
          <p:cNvSpPr/>
          <p:nvPr/>
        </p:nvSpPr>
        <p:spPr>
          <a:xfrm>
            <a:off x="7383780" y="1737360"/>
            <a:ext cx="2011680" cy="2377440"/>
          </a:xfrm>
          <a:prstGeom prst="roundRect">
            <a:avLst>
              <a:gd name="adj" fmla="val 3636"/>
            </a:avLst>
          </a:prstGeom>
          <a:solidFill>
            <a:schemeClr val="bg2"/>
          </a:solidFill>
          <a:ln w="12700">
            <a:solidFill>
              <a:schemeClr val="bg2"/>
            </a:solidFill>
            <a:prstDash val="solid"/>
          </a:ln>
        </p:spPr>
      </p:sp>
      <p:sp>
        <p:nvSpPr>
          <p:cNvPr id="19" name="Step number 4"/>
          <p:cNvSpPr/>
          <p:nvPr/>
        </p:nvSpPr>
        <p:spPr>
          <a:xfrm>
            <a:off x="7612380" y="1965960"/>
            <a:ext cx="548640" cy="548640"/>
          </a:xfrm>
          <a:prstGeom prst="ellipse">
            <a:avLst/>
          </a:prstGeom>
          <a:solidFill>
            <a:schemeClr val="accent1"/>
          </a:solidFill>
          <a:ln w="12700">
            <a:solidFill>
              <a:schemeClr val="accent1"/>
            </a:solidFill>
            <a:prstDash val="solid"/>
          </a:ln>
        </p:spPr>
      </p:sp>
      <p:sp>
        <p:nvSpPr>
          <p:cNvPr id="20" name="Text 18"/>
          <p:cNvSpPr txBox="1"/>
          <p:nvPr/>
        </p:nvSpPr>
        <p:spPr>
          <a:xfrm>
            <a:off x="7612380" y="196596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21" name="Text 19"/>
          <p:cNvSpPr txBox="1"/>
          <p:nvPr/>
        </p:nvSpPr>
        <p:spPr>
          <a:xfrm>
            <a:off x="7612380" y="2743200"/>
            <a:ext cx="1554480" cy="365760"/>
          </a:xfrm>
          <a:prstGeom prst="rect">
            <a:avLst/>
          </a:prstGeom>
          <a:noFill/>
          <a:ln/>
        </p:spPr>
        <p:txBody>
          <a:bodyPr wrap="square" lIns="0" tIns="0" rIns="0" bIns="0" rtlCol="0" anchor="t"/>
          <a:lstStyle/>
          <a:p>
            <a:pPr marL="0" indent="0">
              <a:buNone/>
            </a:pPr>
            <a:r>
              <a:rPr lang="en-US" sz="1800" b="1" dirty="0">
                <a:solidFill>
                  <a:schemeClr val="tx1"/>
                </a:solidFill>
              </a:rPr>
              <a:t>Tune SVR</a:t>
            </a:r>
            <a:endParaRPr lang="en-US" sz="1800" dirty="0"/>
          </a:p>
        </p:txBody>
      </p:sp>
      <p:sp>
        <p:nvSpPr>
          <p:cNvPr id="22" name="Text 20"/>
          <p:cNvSpPr txBox="1"/>
          <p:nvPr/>
        </p:nvSpPr>
        <p:spPr>
          <a:xfrm>
            <a:off x="7612380" y="3200400"/>
            <a:ext cx="1554480" cy="1188720"/>
          </a:xfrm>
          <a:prstGeom prst="rect">
            <a:avLst/>
          </a:prstGeom>
          <a:noFill/>
          <a:ln/>
        </p:spPr>
        <p:txBody>
          <a:bodyPr wrap="square" lIns="0" tIns="0" rIns="0" bIns="0" rtlCol="0" anchor="t"/>
          <a:lstStyle/>
          <a:p>
            <a:pPr marL="0" indent="0">
              <a:buNone/>
            </a:pPr>
            <a:r>
              <a:rPr lang="en-US" sz="1400" dirty="0">
                <a:solidFill>
                  <a:schemeClr val="accent5"/>
                </a:solidFill>
              </a:rPr>
              <a:t>C, ε, γ by 3-fold cross-validation.</a:t>
            </a:r>
            <a:endParaRPr lang="en-US" sz="1400" dirty="0"/>
          </a:p>
        </p:txBody>
      </p:sp>
      <p:sp>
        <p:nvSpPr>
          <p:cNvPr id="23" name="Step card 5"/>
          <p:cNvSpPr/>
          <p:nvPr/>
        </p:nvSpPr>
        <p:spPr>
          <a:xfrm>
            <a:off x="9646920" y="1737360"/>
            <a:ext cx="2011680" cy="2377440"/>
          </a:xfrm>
          <a:prstGeom prst="roundRect">
            <a:avLst>
              <a:gd name="adj" fmla="val 3636"/>
            </a:avLst>
          </a:prstGeom>
          <a:solidFill>
            <a:schemeClr val="bg2"/>
          </a:solidFill>
          <a:ln w="12700">
            <a:solidFill>
              <a:schemeClr val="bg2"/>
            </a:solidFill>
            <a:prstDash val="solid"/>
          </a:ln>
        </p:spPr>
      </p:sp>
      <p:sp>
        <p:nvSpPr>
          <p:cNvPr id="24" name="Step number 5"/>
          <p:cNvSpPr/>
          <p:nvPr/>
        </p:nvSpPr>
        <p:spPr>
          <a:xfrm>
            <a:off x="9875520" y="1965960"/>
            <a:ext cx="548640" cy="548640"/>
          </a:xfrm>
          <a:prstGeom prst="ellipse">
            <a:avLst/>
          </a:prstGeom>
          <a:solidFill>
            <a:schemeClr val="accent1"/>
          </a:solidFill>
          <a:ln w="12700">
            <a:solidFill>
              <a:schemeClr val="accent1"/>
            </a:solidFill>
            <a:prstDash val="solid"/>
          </a:ln>
        </p:spPr>
      </p:sp>
      <p:sp>
        <p:nvSpPr>
          <p:cNvPr id="25" name="Text 23"/>
          <p:cNvSpPr txBox="1"/>
          <p:nvPr/>
        </p:nvSpPr>
        <p:spPr>
          <a:xfrm>
            <a:off x="9875520" y="196596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5</a:t>
            </a:r>
            <a:endParaRPr lang="en-US" sz="1800" dirty="0"/>
          </a:p>
        </p:txBody>
      </p:sp>
      <p:sp>
        <p:nvSpPr>
          <p:cNvPr id="26" name="Text 24"/>
          <p:cNvSpPr txBox="1"/>
          <p:nvPr/>
        </p:nvSpPr>
        <p:spPr>
          <a:xfrm>
            <a:off x="9875520" y="2743200"/>
            <a:ext cx="1554480" cy="365760"/>
          </a:xfrm>
          <a:prstGeom prst="rect">
            <a:avLst/>
          </a:prstGeom>
          <a:noFill/>
          <a:ln/>
        </p:spPr>
        <p:txBody>
          <a:bodyPr wrap="square" lIns="0" tIns="0" rIns="0" bIns="0" rtlCol="0" anchor="t"/>
          <a:lstStyle/>
          <a:p>
            <a:pPr marL="0" indent="0">
              <a:buNone/>
            </a:pPr>
            <a:r>
              <a:rPr lang="en-US" sz="1800" b="1" dirty="0">
                <a:solidFill>
                  <a:schemeClr val="tx1"/>
                </a:solidFill>
              </a:rPr>
              <a:t>Evaluate</a:t>
            </a:r>
            <a:endParaRPr lang="en-US" sz="1800" dirty="0"/>
          </a:p>
        </p:txBody>
      </p:sp>
      <p:sp>
        <p:nvSpPr>
          <p:cNvPr id="27" name="Text 25"/>
          <p:cNvSpPr txBox="1"/>
          <p:nvPr/>
        </p:nvSpPr>
        <p:spPr>
          <a:xfrm>
            <a:off x="9875520" y="3200400"/>
            <a:ext cx="1554480" cy="1188720"/>
          </a:xfrm>
          <a:prstGeom prst="rect">
            <a:avLst/>
          </a:prstGeom>
          <a:noFill/>
          <a:ln/>
        </p:spPr>
        <p:txBody>
          <a:bodyPr wrap="square" lIns="0" tIns="0" rIns="0" bIns="0" rtlCol="0" anchor="t"/>
          <a:lstStyle/>
          <a:p>
            <a:pPr marL="0" indent="0">
              <a:buNone/>
            </a:pPr>
            <a:r>
              <a:rPr lang="en-US" sz="1400" dirty="0">
                <a:solidFill>
                  <a:schemeClr val="accent5"/>
                </a:solidFill>
              </a:rPr>
              <a:t>R², MAE, RMSE on test; 5-fold CV as a check.</a:t>
            </a:r>
            <a:endParaRPr lang="en-US" sz="1400" dirty="0"/>
          </a:p>
        </p:txBody>
      </p:sp>
      <p:sp>
        <p:nvSpPr>
          <p:cNvPr id="28" name="Text 26"/>
          <p:cNvSpPr txBox="1"/>
          <p:nvPr/>
        </p:nvSpPr>
        <p:spPr>
          <a:xfrm>
            <a:off x="594360" y="4572000"/>
            <a:ext cx="11000232" cy="914400"/>
          </a:xfrm>
          <a:prstGeom prst="rect">
            <a:avLst/>
          </a:prstGeom>
          <a:noFill/>
          <a:ln/>
        </p:spPr>
        <p:txBody>
          <a:bodyPr wrap="square" lIns="0" tIns="0" rIns="0" bIns="0" rtlCol="0" anchor="t"/>
          <a:lstStyle/>
          <a:p>
            <a:pPr marL="0" indent="0">
              <a:buNone/>
            </a:pPr>
            <a:r>
              <a:rPr lang="en-US" sz="1600" b="1" dirty="0">
                <a:solidFill>
                  <a:schemeClr val="tx1"/>
                </a:solidFill>
              </a:rPr>
              <a:t>No leakage: </a:t>
            </a:r>
            <a:r>
              <a:rPr lang="en-US" sz="1600" dirty="0">
                <a:solidFill>
                  <a:schemeClr val="tx1"/>
                </a:solidFill>
              </a:rPr>
              <a:t>scaling happens inside the pipeline, so validation folds never influence it. Models: one Random Forest per target, and RBF-kernel SVR with standardised inputs and targets.</a:t>
            </a:r>
            <a:endParaRPr lang="en-US" sz="1600" dirty="0"/>
          </a:p>
        </p:txBody>
      </p:sp>
      <p:sp>
        <p:nvSpPr>
          <p:cNvPr id="29" name="Slide Number Placeholder 0"/>
          <p:cNvSpPr>
            <a:spLocks noGrp="1"/>
          </p:cNvSpPr>
          <p:nvPr>
            <p:ph type="sldNum" sz="quarter" idx="4294967295"/>
          </p:nvPr>
        </p:nvSpPr>
        <p:spPr>
          <a:xfrm>
            <a:off x="11045952"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94360" y="411480"/>
            <a:ext cx="11000232" cy="868680"/>
          </a:xfrm>
          <a:prstGeom prst="rect">
            <a:avLst/>
          </a:prstGeom>
          <a:noFill/>
          <a:ln/>
        </p:spPr>
        <p:txBody>
          <a:bodyPr wrap="square" lIns="0" tIns="0" rIns="0" bIns="0" rtlCol="0" anchor="ctr"/>
          <a:lstStyle/>
          <a:p>
            <a:pPr marL="0" indent="0" algn="l">
              <a:buNone/>
            </a:pPr>
            <a:r>
              <a:rPr lang="en-US" sz="3200" b="1" dirty="0">
                <a:solidFill>
                  <a:schemeClr val="tx1"/>
                </a:solidFill>
              </a:rPr>
              <a:t>Four features carry almost all the signal</a:t>
            </a:r>
            <a:endParaRPr lang="en-US" sz="3200" dirty="0"/>
          </a:p>
        </p:txBody>
      </p:sp>
      <p:graphicFrame>
        <p:nvGraphicFramePr>
          <p:cNvPr id="3" name="Chart 0"/>
          <p:cNvGraphicFramePr/>
          <p:nvPr/>
        </p:nvGraphicFramePr>
        <p:xfrm>
          <a:off x="594360" y="1463040"/>
          <a:ext cx="676656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txBox="1"/>
          <p:nvPr/>
        </p:nvSpPr>
        <p:spPr>
          <a:xfrm>
            <a:off x="7772400" y="1554480"/>
            <a:ext cx="3840480" cy="320040"/>
          </a:xfrm>
          <a:prstGeom prst="rect">
            <a:avLst/>
          </a:prstGeom>
          <a:noFill/>
          <a:ln/>
        </p:spPr>
        <p:txBody>
          <a:bodyPr wrap="square" lIns="0" tIns="0" rIns="0" bIns="0" rtlCol="0" anchor="t"/>
          <a:lstStyle/>
          <a:p>
            <a:pPr marL="0" indent="0">
              <a:buNone/>
            </a:pPr>
            <a:r>
              <a:rPr lang="en-US" sz="1800" b="1" dirty="0">
                <a:solidFill>
                  <a:schemeClr val="accent1"/>
                </a:solidFill>
              </a:rPr>
              <a:t>Top 4 kept</a:t>
            </a:r>
            <a:endParaRPr lang="en-US" sz="1800" dirty="0"/>
          </a:p>
        </p:txBody>
      </p:sp>
      <p:sp>
        <p:nvSpPr>
          <p:cNvPr id="5" name="Text 2"/>
          <p:cNvSpPr txBox="1"/>
          <p:nvPr/>
        </p:nvSpPr>
        <p:spPr>
          <a:xfrm>
            <a:off x="7772400" y="1901952"/>
            <a:ext cx="3840480" cy="777240"/>
          </a:xfrm>
          <a:prstGeom prst="rect">
            <a:avLst/>
          </a:prstGeom>
          <a:noFill/>
          <a:ln/>
        </p:spPr>
        <p:txBody>
          <a:bodyPr wrap="square" lIns="0" tIns="0" rIns="0" bIns="0" rtlCol="0" anchor="t"/>
          <a:lstStyle/>
          <a:p>
            <a:pPr marL="0" indent="0">
              <a:buNone/>
            </a:pPr>
            <a:r>
              <a:rPr lang="en-US" sz="1400" dirty="0">
                <a:solidFill>
                  <a:schemeClr val="tx1"/>
                </a:solidFill>
              </a:rPr>
              <a:t>Salinity, temperature, wave velocity and refractive index.</a:t>
            </a:r>
            <a:endParaRPr lang="en-US" sz="1400" dirty="0"/>
          </a:p>
        </p:txBody>
      </p:sp>
      <p:sp>
        <p:nvSpPr>
          <p:cNvPr id="6" name="Text 3"/>
          <p:cNvSpPr txBox="1"/>
          <p:nvPr/>
        </p:nvSpPr>
        <p:spPr>
          <a:xfrm>
            <a:off x="7772400" y="2724912"/>
            <a:ext cx="3840480" cy="320040"/>
          </a:xfrm>
          <a:prstGeom prst="rect">
            <a:avLst/>
          </a:prstGeom>
          <a:noFill/>
          <a:ln/>
        </p:spPr>
        <p:txBody>
          <a:bodyPr wrap="square" lIns="0" tIns="0" rIns="0" bIns="0" rtlCol="0" anchor="t"/>
          <a:lstStyle/>
          <a:p>
            <a:pPr marL="0" indent="0">
              <a:buNone/>
            </a:pPr>
            <a:r>
              <a:rPr lang="en-US" sz="1800" b="1" dirty="0">
                <a:solidFill>
                  <a:schemeClr val="accent1"/>
                </a:solidFill>
              </a:rPr>
              <a:t>Methods agree</a:t>
            </a:r>
            <a:endParaRPr lang="en-US" sz="1800" dirty="0"/>
          </a:p>
        </p:txBody>
      </p:sp>
      <p:sp>
        <p:nvSpPr>
          <p:cNvPr id="7" name="Text 4"/>
          <p:cNvSpPr txBox="1"/>
          <p:nvPr/>
        </p:nvSpPr>
        <p:spPr>
          <a:xfrm>
            <a:off x="7772400" y="3072384"/>
            <a:ext cx="3840480" cy="777240"/>
          </a:xfrm>
          <a:prstGeom prst="rect">
            <a:avLst/>
          </a:prstGeom>
          <a:noFill/>
          <a:ln/>
        </p:spPr>
        <p:txBody>
          <a:bodyPr wrap="square" lIns="0" tIns="0" rIns="0" bIns="0" rtlCol="0" anchor="t"/>
          <a:lstStyle/>
          <a:p>
            <a:pPr marL="0" indent="0">
              <a:buNone/>
            </a:pPr>
            <a:r>
              <a:rPr lang="en-US" sz="1400" dirty="0">
                <a:solidFill>
                  <a:schemeClr val="tx1"/>
                </a:solidFill>
              </a:rPr>
              <a:t>Impurity and permutation importance give the same ranking.</a:t>
            </a:r>
            <a:endParaRPr lang="en-US" sz="1400" dirty="0"/>
          </a:p>
        </p:txBody>
      </p:sp>
      <p:sp>
        <p:nvSpPr>
          <p:cNvPr id="8" name="Text 5"/>
          <p:cNvSpPr txBox="1"/>
          <p:nvPr/>
        </p:nvSpPr>
        <p:spPr>
          <a:xfrm>
            <a:off x="7772400" y="3895344"/>
            <a:ext cx="3840480" cy="320040"/>
          </a:xfrm>
          <a:prstGeom prst="rect">
            <a:avLst/>
          </a:prstGeom>
          <a:noFill/>
          <a:ln/>
        </p:spPr>
        <p:txBody>
          <a:bodyPr wrap="square" lIns="0" tIns="0" rIns="0" bIns="0" rtlCol="0" anchor="t"/>
          <a:lstStyle/>
          <a:p>
            <a:pPr marL="0" indent="0">
              <a:buNone/>
            </a:pPr>
            <a:r>
              <a:rPr lang="en-US" sz="1800" b="1" dirty="0">
                <a:solidFill>
                  <a:schemeClr val="accent1"/>
                </a:solidFill>
              </a:rPr>
              <a:t>Cheap to drop the rest</a:t>
            </a:r>
            <a:endParaRPr lang="en-US" sz="1800" dirty="0"/>
          </a:p>
        </p:txBody>
      </p:sp>
      <p:sp>
        <p:nvSpPr>
          <p:cNvPr id="9" name="Text 6"/>
          <p:cNvSpPr txBox="1"/>
          <p:nvPr/>
        </p:nvSpPr>
        <p:spPr>
          <a:xfrm>
            <a:off x="7772400" y="4242816"/>
            <a:ext cx="3840480" cy="777240"/>
          </a:xfrm>
          <a:prstGeom prst="rect">
            <a:avLst/>
          </a:prstGeom>
          <a:noFill/>
          <a:ln/>
        </p:spPr>
        <p:txBody>
          <a:bodyPr wrap="square" lIns="0" tIns="0" rIns="0" bIns="0" rtlCol="0" anchor="t"/>
          <a:lstStyle/>
          <a:p>
            <a:pPr marL="0" indent="0">
              <a:buNone/>
            </a:pPr>
            <a:r>
              <a:rPr lang="en-US" sz="1400" dirty="0">
                <a:solidFill>
                  <a:schemeClr val="tx1"/>
                </a:solidFill>
              </a:rPr>
              <a:t>Removing the other four lowers test R² by only 0.004</a:t>
            </a:r>
          </a:p>
          <a:p>
            <a:pPr marL="0" indent="0">
              <a:buNone/>
            </a:pPr>
            <a:r>
              <a:rPr lang="en-US" sz="1400" dirty="0">
                <a:solidFill>
                  <a:schemeClr val="tx1"/>
                </a:solidFill>
              </a:rPr>
              <a:t> to 0.005.</a:t>
            </a:r>
            <a:endParaRPr lang="en-US" sz="1400" dirty="0"/>
          </a:p>
        </p:txBody>
      </p:sp>
      <p:sp>
        <p:nvSpPr>
          <p:cNvPr id="10" name="Text 7"/>
          <p:cNvSpPr txBox="1"/>
          <p:nvPr/>
        </p:nvSpPr>
        <p:spPr>
          <a:xfrm>
            <a:off x="7772400" y="5065776"/>
            <a:ext cx="3840480" cy="320040"/>
          </a:xfrm>
          <a:prstGeom prst="rect">
            <a:avLst/>
          </a:prstGeom>
          <a:noFill/>
          <a:ln/>
        </p:spPr>
        <p:txBody>
          <a:bodyPr wrap="square" lIns="0" tIns="0" rIns="0" bIns="0" rtlCol="0" anchor="t"/>
          <a:lstStyle/>
          <a:p>
            <a:pPr marL="0" indent="0">
              <a:buNone/>
            </a:pPr>
            <a:r>
              <a:rPr lang="en-US" sz="1800" b="1" dirty="0">
                <a:solidFill>
                  <a:schemeClr val="accent1"/>
                </a:solidFill>
              </a:rPr>
              <a:t>Read with care</a:t>
            </a:r>
            <a:endParaRPr lang="en-US" sz="1800" dirty="0"/>
          </a:p>
        </p:txBody>
      </p:sp>
      <p:sp>
        <p:nvSpPr>
          <p:cNvPr id="11" name="Text 8"/>
          <p:cNvSpPr txBox="1"/>
          <p:nvPr/>
        </p:nvSpPr>
        <p:spPr>
          <a:xfrm>
            <a:off x="7772400" y="5413248"/>
            <a:ext cx="3840480" cy="777240"/>
          </a:xfrm>
          <a:prstGeom prst="rect">
            <a:avLst/>
          </a:prstGeom>
          <a:noFill/>
          <a:ln/>
        </p:spPr>
        <p:txBody>
          <a:bodyPr wrap="square" lIns="0" tIns="0" rIns="0" bIns="0" rtlCol="0" anchor="t"/>
          <a:lstStyle/>
          <a:p>
            <a:pPr marL="0" indent="0">
              <a:buNone/>
            </a:pPr>
            <a:r>
              <a:rPr lang="en-US" sz="1400" dirty="0">
                <a:solidFill>
                  <a:schemeClr val="tx1"/>
                </a:solidFill>
              </a:rPr>
              <a:t>Importance mirrors the coefficients we chose; it checks the method, not the physics.</a:t>
            </a:r>
            <a:endParaRPr lang="en-US" sz="1400" dirty="0"/>
          </a:p>
        </p:txBody>
      </p:sp>
      <p:sp>
        <p:nvSpPr>
          <p:cNvPr id="25" name="Slide Number Placeholder 0"/>
          <p:cNvSpPr>
            <a:spLocks noGrp="1"/>
          </p:cNvSpPr>
          <p:nvPr>
            <p:ph type="sldNum" sz="quarter" idx="4294967295"/>
          </p:nvPr>
        </p:nvSpPr>
        <p:spPr>
          <a:xfrm>
            <a:off x="11045952"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94360" y="411480"/>
            <a:ext cx="11000232" cy="868680"/>
          </a:xfrm>
          <a:prstGeom prst="rect">
            <a:avLst/>
          </a:prstGeom>
          <a:noFill/>
          <a:ln/>
        </p:spPr>
        <p:txBody>
          <a:bodyPr wrap="square" lIns="0" tIns="0" rIns="0" bIns="0" rtlCol="0" anchor="ctr"/>
          <a:lstStyle/>
          <a:p>
            <a:pPr marL="0" indent="0" algn="l">
              <a:buNone/>
            </a:pPr>
            <a:r>
              <a:rPr lang="en-US" sz="3200" b="1" dirty="0">
                <a:solidFill>
                  <a:schemeClr val="tx1"/>
                </a:solidFill>
              </a:rPr>
              <a:t>Tuning: 100 trees, small SVR grid</a:t>
            </a:r>
            <a:endParaRPr lang="en-US" sz="3200" dirty="0"/>
          </a:p>
        </p:txBody>
      </p:sp>
      <p:graphicFrame>
        <p:nvGraphicFramePr>
          <p:cNvPr id="3" name="Chart 0"/>
          <p:cNvGraphicFramePr/>
          <p:nvPr/>
        </p:nvGraphicFramePr>
        <p:xfrm>
          <a:off x="594360" y="1463040"/>
          <a:ext cx="5852160" cy="47548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766560" y="1645920"/>
          <a:ext cx="4846320" cy="1828800"/>
        </p:xfrm>
        <a:graphic>
          <a:graphicData uri="http://schemas.openxmlformats.org/drawingml/2006/table">
            <a:tbl>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tblGrid>
              <a:tr h="45720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anchor="ctr">
                    <a:lnL w="9525" cap="flat" cmpd="sng" algn="ctr">
                      <a:solidFill>
                        <a:srgbClr val="C9D3DB"/>
                      </a:solidFill>
                      <a:prstDash val="solid"/>
                      <a:round/>
                      <a:headEnd type="none" w="med" len="med"/>
                      <a:tailEnd type="none" w="med" len="med"/>
                    </a:lnL>
                    <a:lnR w="9525" cap="flat" cmpd="sng" algn="ctr">
                      <a:solidFill>
                        <a:srgbClr val="C9D3DB"/>
                      </a:solidFill>
                      <a:prstDash val="solid"/>
                      <a:round/>
                      <a:headEnd type="none" w="med" len="med"/>
                      <a:tailEnd type="none" w="med" len="med"/>
                    </a:lnR>
                    <a:lnT w="9525" cap="flat" cmpd="sng" algn="ctr">
                      <a:solidFill>
                        <a:srgbClr val="C9D3DB"/>
                      </a:solidFill>
                      <a:prstDash val="solid"/>
                      <a:round/>
                      <a:headEnd type="none" w="med" len="med"/>
                      <a:tailEnd type="none" w="med" len="med"/>
                    </a:lnT>
                    <a:lnB w="9525" cap="flat" cmpd="sng" algn="ctr">
                      <a:solidFill>
                        <a:srgbClr val="C9D3DB"/>
                      </a:solidFill>
                      <a:prstDash val="solid"/>
                      <a:round/>
                      <a:headEnd type="none" w="med" len="med"/>
                      <a:tailEnd type="none" w="med" len="med"/>
                    </a:lnB>
                    <a:solidFill>
                      <a:srgbClr val="1F7A8C"/>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Target</a:t>
                      </a:r>
                      <a:endParaRPr lang="en-US" sz="1300" dirty="0">
                        <a:latin typeface="Calibri" charset="0"/>
                        <a:ea typeface="Calibri" charset="0"/>
                        <a:cs typeface="Calibri" charset="0"/>
                      </a:endParaRPr>
                    </a:p>
                  </a:txBody>
                  <a:tcPr anchor="ctr">
                    <a:lnL w="9525" cap="flat" cmpd="sng" algn="ctr">
                      <a:solidFill>
                        <a:srgbClr val="C9D3DB"/>
                      </a:solidFill>
                      <a:prstDash val="solid"/>
                      <a:round/>
                      <a:headEnd type="none" w="med" len="med"/>
                      <a:tailEnd type="none" w="med" len="med"/>
                    </a:lnL>
                    <a:lnR w="9525" cap="flat" cmpd="sng" algn="ctr">
                      <a:solidFill>
                        <a:srgbClr val="C9D3DB"/>
                      </a:solidFill>
                      <a:prstDash val="solid"/>
                      <a:round/>
                      <a:headEnd type="none" w="med" len="med"/>
                      <a:tailEnd type="none" w="med" len="med"/>
                    </a:lnR>
                    <a:lnT w="9525" cap="flat" cmpd="sng" algn="ctr">
                      <a:solidFill>
                        <a:srgbClr val="C9D3DB"/>
                      </a:solidFill>
                      <a:prstDash val="solid"/>
                      <a:round/>
                      <a:headEnd type="none" w="med" len="med"/>
                      <a:tailEnd type="none" w="med" len="med"/>
                    </a:lnT>
                    <a:lnB w="9525" cap="flat" cmpd="sng" algn="ctr">
                      <a:solidFill>
                        <a:srgbClr val="C9D3DB"/>
                      </a:solidFill>
                      <a:prstDash val="solid"/>
                      <a:round/>
                      <a:headEnd type="none" w="med" len="med"/>
                      <a:tailEnd type="none" w="med" len="med"/>
                    </a:lnB>
                    <a:solidFill>
                      <a:srgbClr val="1F7A8C"/>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Chosen setting</a:t>
                      </a:r>
                      <a:endParaRPr lang="en-US" sz="1300" dirty="0">
                        <a:latin typeface="Calibri" charset="0"/>
                        <a:ea typeface="Calibri" charset="0"/>
                        <a:cs typeface="Calibri" charset="0"/>
                      </a:endParaRPr>
                    </a:p>
                  </a:txBody>
                  <a:tcPr anchor="ctr">
                    <a:lnL w="9525" cap="flat" cmpd="sng" algn="ctr">
                      <a:solidFill>
                        <a:srgbClr val="C9D3DB"/>
                      </a:solidFill>
                      <a:prstDash val="solid"/>
                      <a:round/>
                      <a:headEnd type="none" w="med" len="med"/>
                      <a:tailEnd type="none" w="med" len="med"/>
                    </a:lnL>
                    <a:lnR w="9525" cap="flat" cmpd="sng" algn="ctr">
                      <a:solidFill>
                        <a:srgbClr val="C9D3DB"/>
                      </a:solidFill>
                      <a:prstDash val="solid"/>
                      <a:round/>
                      <a:headEnd type="none" w="med" len="med"/>
                      <a:tailEnd type="none" w="med" len="med"/>
                    </a:lnR>
                    <a:lnT w="9525" cap="flat" cmpd="sng" algn="ctr">
                      <a:solidFill>
                        <a:srgbClr val="C9D3DB"/>
                      </a:solidFill>
                      <a:prstDash val="solid"/>
                      <a:round/>
                      <a:headEnd type="none" w="med" len="med"/>
                      <a:tailEnd type="none" w="med" len="med"/>
                    </a:lnT>
                    <a:lnB w="9525" cap="flat" cmpd="sng" algn="ctr">
                      <a:solidFill>
                        <a:srgbClr val="C9D3DB"/>
                      </a:solidFill>
                      <a:prstDash val="solid"/>
                      <a:round/>
                      <a:headEnd type="none" w="med" len="med"/>
                      <a:tailEnd type="none" w="med" len="med"/>
                    </a:lnB>
                    <a:solidFill>
                      <a:srgbClr val="1F7A8C"/>
                    </a:solidFill>
                  </a:tcPr>
                </a:tc>
                <a:extLst>
                  <a:ext uri="{0D108BD9-81ED-4DB2-BD59-A6C34878D82A}">
                    <a16:rowId xmlns:a16="http://schemas.microsoft.com/office/drawing/2014/main" val="10000"/>
                  </a:ext>
                </a:extLst>
              </a:tr>
              <a:tr h="457200">
                <a:tc>
                  <a:txBody>
                    <a:bodyPr/>
                    <a:lstStyle/>
                    <a:p>
                      <a:pPr marL="0" indent="0">
                        <a:buNone/>
                      </a:pPr>
                      <a:r>
                        <a:rPr lang="en-US" sz="1300" dirty="0">
                          <a:solidFill>
                            <a:srgbClr val="1B2A38"/>
                          </a:solidFill>
                          <a:latin typeface="Calibri" pitchFamily="34" charset="0"/>
                          <a:ea typeface="Calibri" pitchFamily="34" charset="-122"/>
                          <a:cs typeface="Calibri" pitchFamily="34" charset="-120"/>
                        </a:rPr>
                        <a:t>Random Forest</a:t>
                      </a:r>
                      <a:endParaRPr lang="en-US" sz="1300" dirty="0">
                        <a:latin typeface="Calibri" charset="0"/>
                        <a:ea typeface="Calibri" charset="0"/>
                        <a:cs typeface="Calibri" charset="0"/>
                      </a:endParaRPr>
                    </a:p>
                  </a:txBody>
                  <a:tcPr anchor="ctr">
                    <a:lnL w="9525" cap="flat" cmpd="sng" algn="ctr">
                      <a:solidFill>
                        <a:srgbClr val="C9D3DB"/>
                      </a:solidFill>
                      <a:prstDash val="solid"/>
                      <a:round/>
                      <a:headEnd type="none" w="med" len="med"/>
                      <a:tailEnd type="none" w="med" len="med"/>
                    </a:lnL>
                    <a:lnR w="9525" cap="flat" cmpd="sng" algn="ctr">
                      <a:solidFill>
                        <a:srgbClr val="C9D3DB"/>
                      </a:solidFill>
                      <a:prstDash val="solid"/>
                      <a:round/>
                      <a:headEnd type="none" w="med" len="med"/>
                      <a:tailEnd type="none" w="med" len="med"/>
                    </a:lnR>
                    <a:lnT w="9525" cap="flat" cmpd="sng" algn="ctr">
                      <a:solidFill>
                        <a:srgbClr val="C9D3DB"/>
                      </a:solidFill>
                      <a:prstDash val="solid"/>
                      <a:round/>
                      <a:headEnd type="none" w="med" len="med"/>
                      <a:tailEnd type="none" w="med" len="med"/>
                    </a:lnT>
                    <a:lnB w="9525" cap="flat" cmpd="sng" algn="ctr">
                      <a:solidFill>
                        <a:srgbClr val="C9D3DB"/>
                      </a:solidFill>
                      <a:prstDash val="solid"/>
                      <a:round/>
                      <a:headEnd type="none" w="med" len="med"/>
                      <a:tailEnd type="none" w="med" len="med"/>
                    </a:lnB>
                  </a:tcPr>
                </a:tc>
                <a:tc>
                  <a:txBody>
                    <a:bodyPr/>
                    <a:lstStyle/>
                    <a:p>
                      <a:pPr marL="0" indent="0">
                        <a:buNone/>
                      </a:pPr>
                      <a:r>
                        <a:rPr lang="en-US" sz="1300" dirty="0">
                          <a:solidFill>
                            <a:srgbClr val="1B2A38"/>
                          </a:solidFill>
                          <a:latin typeface="Calibri" pitchFamily="34" charset="0"/>
                          <a:ea typeface="Calibri" pitchFamily="34" charset="-122"/>
                          <a:cs typeface="Calibri" pitchFamily="34" charset="-120"/>
                        </a:rPr>
                        <a:t>d50, σ²</a:t>
                      </a:r>
                      <a:endParaRPr lang="en-US" sz="1300" dirty="0">
                        <a:latin typeface="Calibri" charset="0"/>
                        <a:ea typeface="Calibri" charset="0"/>
                        <a:cs typeface="Calibri" charset="0"/>
                      </a:endParaRPr>
                    </a:p>
                  </a:txBody>
                  <a:tcPr anchor="ctr">
                    <a:lnL w="9525" cap="flat" cmpd="sng" algn="ctr">
                      <a:solidFill>
                        <a:srgbClr val="C9D3DB"/>
                      </a:solidFill>
                      <a:prstDash val="solid"/>
                      <a:round/>
                      <a:headEnd type="none" w="med" len="med"/>
                      <a:tailEnd type="none" w="med" len="med"/>
                    </a:lnL>
                    <a:lnR w="9525" cap="flat" cmpd="sng" algn="ctr">
                      <a:solidFill>
                        <a:srgbClr val="C9D3DB"/>
                      </a:solidFill>
                      <a:prstDash val="solid"/>
                      <a:round/>
                      <a:headEnd type="none" w="med" len="med"/>
                      <a:tailEnd type="none" w="med" len="med"/>
                    </a:lnR>
                    <a:lnT w="9525" cap="flat" cmpd="sng" algn="ctr">
                      <a:solidFill>
                        <a:srgbClr val="C9D3DB"/>
                      </a:solidFill>
                      <a:prstDash val="solid"/>
                      <a:round/>
                      <a:headEnd type="none" w="med" len="med"/>
                      <a:tailEnd type="none" w="med" len="med"/>
                    </a:lnT>
                    <a:lnB w="9525" cap="flat" cmpd="sng" algn="ctr">
                      <a:solidFill>
                        <a:srgbClr val="C9D3DB"/>
                      </a:solidFill>
                      <a:prstDash val="solid"/>
                      <a:round/>
                      <a:headEnd type="none" w="med" len="med"/>
                      <a:tailEnd type="none" w="med" len="med"/>
                    </a:lnB>
                  </a:tcPr>
                </a:tc>
                <a:tc>
                  <a:txBody>
                    <a:bodyPr/>
                    <a:lstStyle/>
                    <a:p>
                      <a:pPr marL="0" indent="0">
                        <a:buNone/>
                      </a:pPr>
                      <a:r>
                        <a:rPr lang="en-US" sz="1300" dirty="0">
                          <a:solidFill>
                            <a:srgbClr val="1B2A38"/>
                          </a:solidFill>
                          <a:latin typeface="Calibri" pitchFamily="34" charset="0"/>
                          <a:ea typeface="Calibri" pitchFamily="34" charset="-122"/>
                          <a:cs typeface="Calibri" pitchFamily="34" charset="-120"/>
                        </a:rPr>
                        <a:t>100 trees</a:t>
                      </a:r>
                      <a:endParaRPr lang="en-US" sz="1300" dirty="0">
                        <a:latin typeface="Calibri" charset="0"/>
                        <a:ea typeface="Calibri" charset="0"/>
                        <a:cs typeface="Calibri" charset="0"/>
                      </a:endParaRPr>
                    </a:p>
                  </a:txBody>
                  <a:tcPr anchor="ctr">
                    <a:lnL w="9525" cap="flat" cmpd="sng" algn="ctr">
                      <a:solidFill>
                        <a:srgbClr val="C9D3DB"/>
                      </a:solidFill>
                      <a:prstDash val="solid"/>
                      <a:round/>
                      <a:headEnd type="none" w="med" len="med"/>
                      <a:tailEnd type="none" w="med" len="med"/>
                    </a:lnL>
                    <a:lnR w="9525" cap="flat" cmpd="sng" algn="ctr">
                      <a:solidFill>
                        <a:srgbClr val="C9D3DB"/>
                      </a:solidFill>
                      <a:prstDash val="solid"/>
                      <a:round/>
                      <a:headEnd type="none" w="med" len="med"/>
                      <a:tailEnd type="none" w="med" len="med"/>
                    </a:lnR>
                    <a:lnT w="9525" cap="flat" cmpd="sng" algn="ctr">
                      <a:solidFill>
                        <a:srgbClr val="C9D3DB"/>
                      </a:solidFill>
                      <a:prstDash val="solid"/>
                      <a:round/>
                      <a:headEnd type="none" w="med" len="med"/>
                      <a:tailEnd type="none" w="med" len="med"/>
                    </a:lnT>
                    <a:lnB w="9525" cap="flat" cmpd="sng" algn="ctr">
                      <a:solidFill>
                        <a:srgbClr val="C9D3DB"/>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300" dirty="0">
                          <a:solidFill>
                            <a:srgbClr val="1B2A38"/>
                          </a:solidFill>
                          <a:latin typeface="Calibri" pitchFamily="34" charset="0"/>
                          <a:ea typeface="Calibri" pitchFamily="34" charset="-122"/>
                          <a:cs typeface="Calibri" pitchFamily="34" charset="-120"/>
                        </a:rPr>
                        <a:t>SVR (RBF)</a:t>
                      </a:r>
                      <a:endParaRPr lang="en-US" sz="1300" dirty="0">
                        <a:latin typeface="Calibri" charset="0"/>
                        <a:ea typeface="Calibri" charset="0"/>
                        <a:cs typeface="Calibri" charset="0"/>
                      </a:endParaRPr>
                    </a:p>
                  </a:txBody>
                  <a:tcPr anchor="ctr">
                    <a:lnL w="9525" cap="flat" cmpd="sng" algn="ctr">
                      <a:solidFill>
                        <a:srgbClr val="C9D3DB"/>
                      </a:solidFill>
                      <a:prstDash val="solid"/>
                      <a:round/>
                      <a:headEnd type="none" w="med" len="med"/>
                      <a:tailEnd type="none" w="med" len="med"/>
                    </a:lnL>
                    <a:lnR w="9525" cap="flat" cmpd="sng" algn="ctr">
                      <a:solidFill>
                        <a:srgbClr val="C9D3DB"/>
                      </a:solidFill>
                      <a:prstDash val="solid"/>
                      <a:round/>
                      <a:headEnd type="none" w="med" len="med"/>
                      <a:tailEnd type="none" w="med" len="med"/>
                    </a:lnR>
                    <a:lnT w="9525" cap="flat" cmpd="sng" algn="ctr">
                      <a:solidFill>
                        <a:srgbClr val="C9D3DB"/>
                      </a:solidFill>
                      <a:prstDash val="solid"/>
                      <a:round/>
                      <a:headEnd type="none" w="med" len="med"/>
                      <a:tailEnd type="none" w="med" len="med"/>
                    </a:lnT>
                    <a:lnB w="9525" cap="flat" cmpd="sng" algn="ctr">
                      <a:solidFill>
                        <a:srgbClr val="C9D3DB"/>
                      </a:solidFill>
                      <a:prstDash val="solid"/>
                      <a:round/>
                      <a:headEnd type="none" w="med" len="med"/>
                      <a:tailEnd type="none" w="med" len="med"/>
                    </a:lnB>
                  </a:tcPr>
                </a:tc>
                <a:tc>
                  <a:txBody>
                    <a:bodyPr/>
                    <a:lstStyle/>
                    <a:p>
                      <a:pPr marL="0" indent="0">
                        <a:buNone/>
                      </a:pPr>
                      <a:r>
                        <a:rPr lang="en-US" sz="1300" dirty="0">
                          <a:solidFill>
                            <a:srgbClr val="1B2A38"/>
                          </a:solidFill>
                          <a:latin typeface="Calibri" pitchFamily="34" charset="0"/>
                          <a:ea typeface="Calibri" pitchFamily="34" charset="-122"/>
                          <a:cs typeface="Calibri" pitchFamily="34" charset="-120"/>
                        </a:rPr>
                        <a:t>d50</a:t>
                      </a:r>
                      <a:endParaRPr lang="en-US" sz="1300" dirty="0">
                        <a:latin typeface="Calibri" charset="0"/>
                        <a:ea typeface="Calibri" charset="0"/>
                        <a:cs typeface="Calibri" charset="0"/>
                      </a:endParaRPr>
                    </a:p>
                  </a:txBody>
                  <a:tcPr anchor="ctr">
                    <a:lnL w="9525" cap="flat" cmpd="sng" algn="ctr">
                      <a:solidFill>
                        <a:srgbClr val="C9D3DB"/>
                      </a:solidFill>
                      <a:prstDash val="solid"/>
                      <a:round/>
                      <a:headEnd type="none" w="med" len="med"/>
                      <a:tailEnd type="none" w="med" len="med"/>
                    </a:lnL>
                    <a:lnR w="9525" cap="flat" cmpd="sng" algn="ctr">
                      <a:solidFill>
                        <a:srgbClr val="C9D3DB"/>
                      </a:solidFill>
                      <a:prstDash val="solid"/>
                      <a:round/>
                      <a:headEnd type="none" w="med" len="med"/>
                      <a:tailEnd type="none" w="med" len="med"/>
                    </a:lnR>
                    <a:lnT w="9525" cap="flat" cmpd="sng" algn="ctr">
                      <a:solidFill>
                        <a:srgbClr val="C9D3DB"/>
                      </a:solidFill>
                      <a:prstDash val="solid"/>
                      <a:round/>
                      <a:headEnd type="none" w="med" len="med"/>
                      <a:tailEnd type="none" w="med" len="med"/>
                    </a:lnT>
                    <a:lnB w="9525" cap="flat" cmpd="sng" algn="ctr">
                      <a:solidFill>
                        <a:srgbClr val="C9D3DB"/>
                      </a:solidFill>
                      <a:prstDash val="solid"/>
                      <a:round/>
                      <a:headEnd type="none" w="med" len="med"/>
                      <a:tailEnd type="none" w="med" len="med"/>
                    </a:lnB>
                  </a:tcPr>
                </a:tc>
                <a:tc>
                  <a:txBody>
                    <a:bodyPr/>
                    <a:lstStyle/>
                    <a:p>
                      <a:pPr marL="0" indent="0">
                        <a:buNone/>
                      </a:pPr>
                      <a:r>
                        <a:rPr lang="en-US" sz="1300" dirty="0">
                          <a:solidFill>
                            <a:srgbClr val="1B2A38"/>
                          </a:solidFill>
                          <a:latin typeface="Calibri" pitchFamily="34" charset="0"/>
                          <a:ea typeface="Calibri" pitchFamily="34" charset="-122"/>
                          <a:cs typeface="Calibri" pitchFamily="34" charset="-120"/>
                        </a:rPr>
                        <a:t>C = 10, ε = 0.1, γ = 0.1</a:t>
                      </a:r>
                      <a:endParaRPr lang="en-US" sz="1300" dirty="0">
                        <a:latin typeface="Calibri" charset="0"/>
                        <a:ea typeface="Calibri" charset="0"/>
                        <a:cs typeface="Calibri" charset="0"/>
                      </a:endParaRPr>
                    </a:p>
                  </a:txBody>
                  <a:tcPr anchor="ctr">
                    <a:lnL w="9525" cap="flat" cmpd="sng" algn="ctr">
                      <a:solidFill>
                        <a:srgbClr val="C9D3DB"/>
                      </a:solidFill>
                      <a:prstDash val="solid"/>
                      <a:round/>
                      <a:headEnd type="none" w="med" len="med"/>
                      <a:tailEnd type="none" w="med" len="med"/>
                    </a:lnL>
                    <a:lnR w="9525" cap="flat" cmpd="sng" algn="ctr">
                      <a:solidFill>
                        <a:srgbClr val="C9D3DB"/>
                      </a:solidFill>
                      <a:prstDash val="solid"/>
                      <a:round/>
                      <a:headEnd type="none" w="med" len="med"/>
                      <a:tailEnd type="none" w="med" len="med"/>
                    </a:lnR>
                    <a:lnT w="9525" cap="flat" cmpd="sng" algn="ctr">
                      <a:solidFill>
                        <a:srgbClr val="C9D3DB"/>
                      </a:solidFill>
                      <a:prstDash val="solid"/>
                      <a:round/>
                      <a:headEnd type="none" w="med" len="med"/>
                      <a:tailEnd type="none" w="med" len="med"/>
                    </a:lnT>
                    <a:lnB w="9525" cap="flat" cmpd="sng" algn="ctr">
                      <a:solidFill>
                        <a:srgbClr val="C9D3DB"/>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300" dirty="0">
                          <a:solidFill>
                            <a:srgbClr val="1B2A38"/>
                          </a:solidFill>
                          <a:latin typeface="Calibri" pitchFamily="34" charset="0"/>
                          <a:ea typeface="Calibri" pitchFamily="34" charset="-122"/>
                          <a:cs typeface="Calibri" pitchFamily="34" charset="-120"/>
                        </a:rPr>
                        <a:t>SVR (RBF)</a:t>
                      </a:r>
                      <a:endParaRPr lang="en-US" sz="1300" dirty="0">
                        <a:latin typeface="Calibri" charset="0"/>
                        <a:ea typeface="Calibri" charset="0"/>
                        <a:cs typeface="Calibri" charset="0"/>
                      </a:endParaRPr>
                    </a:p>
                  </a:txBody>
                  <a:tcPr anchor="ctr">
                    <a:lnL w="9525" cap="flat" cmpd="sng" algn="ctr">
                      <a:solidFill>
                        <a:srgbClr val="C9D3DB"/>
                      </a:solidFill>
                      <a:prstDash val="solid"/>
                      <a:round/>
                      <a:headEnd type="none" w="med" len="med"/>
                      <a:tailEnd type="none" w="med" len="med"/>
                    </a:lnL>
                    <a:lnR w="9525" cap="flat" cmpd="sng" algn="ctr">
                      <a:solidFill>
                        <a:srgbClr val="C9D3DB"/>
                      </a:solidFill>
                      <a:prstDash val="solid"/>
                      <a:round/>
                      <a:headEnd type="none" w="med" len="med"/>
                      <a:tailEnd type="none" w="med" len="med"/>
                    </a:lnR>
                    <a:lnT w="9525" cap="flat" cmpd="sng" algn="ctr">
                      <a:solidFill>
                        <a:srgbClr val="C9D3DB"/>
                      </a:solidFill>
                      <a:prstDash val="solid"/>
                      <a:round/>
                      <a:headEnd type="none" w="med" len="med"/>
                      <a:tailEnd type="none" w="med" len="med"/>
                    </a:lnT>
                    <a:lnB w="9525" cap="flat" cmpd="sng" algn="ctr">
                      <a:solidFill>
                        <a:srgbClr val="C9D3DB"/>
                      </a:solidFill>
                      <a:prstDash val="solid"/>
                      <a:round/>
                      <a:headEnd type="none" w="med" len="med"/>
                      <a:tailEnd type="none" w="med" len="med"/>
                    </a:lnB>
                  </a:tcPr>
                </a:tc>
                <a:tc>
                  <a:txBody>
                    <a:bodyPr/>
                    <a:lstStyle/>
                    <a:p>
                      <a:pPr marL="0" indent="0">
                        <a:buNone/>
                      </a:pPr>
                      <a:r>
                        <a:rPr lang="en-US" sz="1300" dirty="0">
                          <a:solidFill>
                            <a:srgbClr val="1B2A38"/>
                          </a:solidFill>
                          <a:latin typeface="Calibri" pitchFamily="34" charset="0"/>
                          <a:ea typeface="Calibri" pitchFamily="34" charset="-122"/>
                          <a:cs typeface="Calibri" pitchFamily="34" charset="-120"/>
                        </a:rPr>
                        <a:t>σ²</a:t>
                      </a:r>
                      <a:endParaRPr lang="en-US" sz="1300" dirty="0">
                        <a:latin typeface="Calibri" charset="0"/>
                        <a:ea typeface="Calibri" charset="0"/>
                        <a:cs typeface="Calibri" charset="0"/>
                      </a:endParaRPr>
                    </a:p>
                  </a:txBody>
                  <a:tcPr anchor="ctr">
                    <a:lnL w="9525" cap="flat" cmpd="sng" algn="ctr">
                      <a:solidFill>
                        <a:srgbClr val="C9D3DB"/>
                      </a:solidFill>
                      <a:prstDash val="solid"/>
                      <a:round/>
                      <a:headEnd type="none" w="med" len="med"/>
                      <a:tailEnd type="none" w="med" len="med"/>
                    </a:lnL>
                    <a:lnR w="9525" cap="flat" cmpd="sng" algn="ctr">
                      <a:solidFill>
                        <a:srgbClr val="C9D3DB"/>
                      </a:solidFill>
                      <a:prstDash val="solid"/>
                      <a:round/>
                      <a:headEnd type="none" w="med" len="med"/>
                      <a:tailEnd type="none" w="med" len="med"/>
                    </a:lnR>
                    <a:lnT w="9525" cap="flat" cmpd="sng" algn="ctr">
                      <a:solidFill>
                        <a:srgbClr val="C9D3DB"/>
                      </a:solidFill>
                      <a:prstDash val="solid"/>
                      <a:round/>
                      <a:headEnd type="none" w="med" len="med"/>
                      <a:tailEnd type="none" w="med" len="med"/>
                    </a:lnT>
                    <a:lnB w="9525" cap="flat" cmpd="sng" algn="ctr">
                      <a:solidFill>
                        <a:srgbClr val="C9D3DB"/>
                      </a:solidFill>
                      <a:prstDash val="solid"/>
                      <a:round/>
                      <a:headEnd type="none" w="med" len="med"/>
                      <a:tailEnd type="none" w="med" len="med"/>
                    </a:lnB>
                  </a:tcPr>
                </a:tc>
                <a:tc>
                  <a:txBody>
                    <a:bodyPr/>
                    <a:lstStyle/>
                    <a:p>
                      <a:pPr marL="0" indent="0">
                        <a:buNone/>
                      </a:pPr>
                      <a:r>
                        <a:rPr lang="en-US" sz="1300" dirty="0">
                          <a:solidFill>
                            <a:srgbClr val="1B2A38"/>
                          </a:solidFill>
                          <a:latin typeface="Calibri" pitchFamily="34" charset="0"/>
                          <a:ea typeface="Calibri" pitchFamily="34" charset="-122"/>
                          <a:cs typeface="Calibri" pitchFamily="34" charset="-120"/>
                        </a:rPr>
                        <a:t>C = 1, ε = 0.1, γ = 0.1</a:t>
                      </a:r>
                      <a:endParaRPr lang="en-US" sz="1300" dirty="0">
                        <a:latin typeface="Calibri" charset="0"/>
                        <a:ea typeface="Calibri" charset="0"/>
                        <a:cs typeface="Calibri" charset="0"/>
                      </a:endParaRPr>
                    </a:p>
                  </a:txBody>
                  <a:tcPr anchor="ctr">
                    <a:lnL w="9525" cap="flat" cmpd="sng" algn="ctr">
                      <a:solidFill>
                        <a:srgbClr val="C9D3DB"/>
                      </a:solidFill>
                      <a:prstDash val="solid"/>
                      <a:round/>
                      <a:headEnd type="none" w="med" len="med"/>
                      <a:tailEnd type="none" w="med" len="med"/>
                    </a:lnL>
                    <a:lnR w="9525" cap="flat" cmpd="sng" algn="ctr">
                      <a:solidFill>
                        <a:srgbClr val="C9D3DB"/>
                      </a:solidFill>
                      <a:prstDash val="solid"/>
                      <a:round/>
                      <a:headEnd type="none" w="med" len="med"/>
                      <a:tailEnd type="none" w="med" len="med"/>
                    </a:lnR>
                    <a:lnT w="9525" cap="flat" cmpd="sng" algn="ctr">
                      <a:solidFill>
                        <a:srgbClr val="C9D3DB"/>
                      </a:solidFill>
                      <a:prstDash val="solid"/>
                      <a:round/>
                      <a:headEnd type="none" w="med" len="med"/>
                      <a:tailEnd type="none" w="med" len="med"/>
                    </a:lnT>
                    <a:lnB w="9525" cap="flat" cmpd="sng" algn="ctr">
                      <a:solidFill>
                        <a:srgbClr val="C9D3D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1"/>
          <p:cNvSpPr txBox="1"/>
          <p:nvPr/>
        </p:nvSpPr>
        <p:spPr>
          <a:xfrm>
            <a:off x="6766560" y="3840480"/>
            <a:ext cx="4846320" cy="1097280"/>
          </a:xfrm>
          <a:prstGeom prst="rect">
            <a:avLst/>
          </a:prstGeom>
          <a:noFill/>
          <a:ln/>
        </p:spPr>
        <p:txBody>
          <a:bodyPr wrap="square" lIns="0" tIns="0" rIns="0" bIns="0" rtlCol="0" anchor="t"/>
          <a:lstStyle/>
          <a:p>
            <a:pPr marL="0" indent="0">
              <a:buNone/>
            </a:pPr>
            <a:r>
              <a:rPr lang="en-US" sz="1400" b="1" dirty="0">
                <a:solidFill>
                  <a:schemeClr val="tx1"/>
                </a:solidFill>
              </a:rPr>
              <a:t>Random Forest. </a:t>
            </a:r>
            <a:r>
              <a:rPr lang="en-US" sz="1400" dirty="0">
                <a:solidFill>
                  <a:schemeClr val="tx1"/>
                </a:solidFill>
              </a:rPr>
              <a:t>OOB R² is flat from about 20 trees (5 trees scores below zero); we took the smallest count within 0.002 of the best, which is 100.</a:t>
            </a:r>
            <a:endParaRPr lang="en-US" sz="1400" dirty="0"/>
          </a:p>
        </p:txBody>
      </p:sp>
      <p:sp>
        <p:nvSpPr>
          <p:cNvPr id="6" name="Text 2"/>
          <p:cNvSpPr txBox="1"/>
          <p:nvPr/>
        </p:nvSpPr>
        <p:spPr>
          <a:xfrm>
            <a:off x="6766560" y="5029200"/>
            <a:ext cx="4846320" cy="1188720"/>
          </a:xfrm>
          <a:prstGeom prst="rect">
            <a:avLst/>
          </a:prstGeom>
          <a:noFill/>
          <a:ln/>
        </p:spPr>
        <p:txBody>
          <a:bodyPr wrap="square" lIns="0" tIns="0" rIns="0" bIns="0" rtlCol="0" anchor="t"/>
          <a:lstStyle/>
          <a:p>
            <a:pPr marL="0" indent="0">
              <a:buNone/>
            </a:pPr>
            <a:r>
              <a:rPr lang="en-US" sz="1400" b="1" dirty="0">
                <a:solidFill>
                  <a:schemeClr val="tx1"/>
                </a:solidFill>
              </a:rPr>
              <a:t>SVR. </a:t>
            </a:r>
            <a:r>
              <a:rPr lang="en-US" sz="1400" dirty="0">
                <a:solidFill>
                  <a:schemeClr val="tx1"/>
                </a:solidFill>
              </a:rPr>
              <a:t>18 combinations of C, ε, γ by 3-fold CV (CV R² 0.920 for d50, 0.945 for σ²). The σ² optimum sits at the lowest C in the grid; scores barely change for larger C.</a:t>
            </a:r>
            <a:endParaRPr lang="en-US" sz="1400" dirty="0"/>
          </a:p>
        </p:txBody>
      </p:sp>
      <p:sp>
        <p:nvSpPr>
          <p:cNvPr id="25" name="Slide Number Placeholder 0"/>
          <p:cNvSpPr>
            <a:spLocks noGrp="1"/>
          </p:cNvSpPr>
          <p:nvPr>
            <p:ph type="sldNum" sz="quarter" idx="4294967295"/>
          </p:nvPr>
        </p:nvSpPr>
        <p:spPr>
          <a:xfrm>
            <a:off x="11045952"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94360" y="411480"/>
            <a:ext cx="11000232" cy="868680"/>
          </a:xfrm>
          <a:prstGeom prst="rect">
            <a:avLst/>
          </a:prstGeom>
          <a:noFill/>
          <a:ln/>
        </p:spPr>
        <p:txBody>
          <a:bodyPr wrap="square" lIns="0" tIns="0" rIns="0" bIns="0" rtlCol="0" anchor="ctr"/>
          <a:lstStyle/>
          <a:p>
            <a:pPr marL="0" indent="0" algn="l">
              <a:buNone/>
            </a:pPr>
            <a:r>
              <a:rPr lang="en-US" sz="3200" b="1" dirty="0">
                <a:solidFill>
                  <a:schemeClr val="tx1"/>
                </a:solidFill>
              </a:rPr>
              <a:t>SVR edges out RF, both near the ceiling</a:t>
            </a:r>
            <a:endParaRPr lang="en-US" sz="3200" dirty="0"/>
          </a:p>
        </p:txBody>
      </p:sp>
      <p:graphicFrame>
        <p:nvGraphicFramePr>
          <p:cNvPr id="3" name="Chart 0"/>
          <p:cNvGraphicFramePr/>
          <p:nvPr/>
        </p:nvGraphicFramePr>
        <p:xfrm>
          <a:off x="594360" y="1463040"/>
          <a:ext cx="6035040" cy="47548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949440" y="1645920"/>
          <a:ext cx="4663440" cy="2194560"/>
        </p:xfrm>
        <a:graphic>
          <a:graphicData uri="http://schemas.openxmlformats.org/drawingml/2006/table">
            <a:tbl>
              <a:tblPr/>
              <a:tblGrid>
                <a:gridCol w="114300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438912">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Target</a:t>
                      </a:r>
                      <a:endParaRPr lang="en-US" sz="1300" dirty="0">
                        <a:latin typeface="Calibri" charset="0"/>
                        <a:ea typeface="Calibri" charset="0"/>
                        <a:cs typeface="Calibri" charset="0"/>
                      </a:endParaRPr>
                    </a:p>
                  </a:txBody>
                  <a:tcPr anchor="ctr">
                    <a:lnL w="9525" cap="flat" cmpd="sng" algn="ctr">
                      <a:solidFill>
                        <a:srgbClr val="C9D3DB"/>
                      </a:solidFill>
                      <a:prstDash val="solid"/>
                      <a:round/>
                      <a:headEnd type="none" w="med" len="med"/>
                      <a:tailEnd type="none" w="med" len="med"/>
                    </a:lnL>
                    <a:lnR w="9525" cap="flat" cmpd="sng" algn="ctr">
                      <a:solidFill>
                        <a:srgbClr val="C9D3DB"/>
                      </a:solidFill>
                      <a:prstDash val="solid"/>
                      <a:round/>
                      <a:headEnd type="none" w="med" len="med"/>
                      <a:tailEnd type="none" w="med" len="med"/>
                    </a:lnR>
                    <a:lnT w="9525" cap="flat" cmpd="sng" algn="ctr">
                      <a:solidFill>
                        <a:srgbClr val="C9D3DB"/>
                      </a:solidFill>
                      <a:prstDash val="solid"/>
                      <a:round/>
                      <a:headEnd type="none" w="med" len="med"/>
                      <a:tailEnd type="none" w="med" len="med"/>
                    </a:lnT>
                    <a:lnB w="9525" cap="flat" cmpd="sng" algn="ctr">
                      <a:solidFill>
                        <a:srgbClr val="C9D3DB"/>
                      </a:solidFill>
                      <a:prstDash val="solid"/>
                      <a:round/>
                      <a:headEnd type="none" w="med" len="med"/>
                      <a:tailEnd type="none" w="med" len="med"/>
                    </a:lnB>
                    <a:solidFill>
                      <a:srgbClr val="1F7A8C"/>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anchor="ctr">
                    <a:lnL w="9525" cap="flat" cmpd="sng" algn="ctr">
                      <a:solidFill>
                        <a:srgbClr val="C9D3DB"/>
                      </a:solidFill>
                      <a:prstDash val="solid"/>
                      <a:round/>
                      <a:headEnd type="none" w="med" len="med"/>
                      <a:tailEnd type="none" w="med" len="med"/>
                    </a:lnL>
                    <a:lnR w="9525" cap="flat" cmpd="sng" algn="ctr">
                      <a:solidFill>
                        <a:srgbClr val="C9D3DB"/>
                      </a:solidFill>
                      <a:prstDash val="solid"/>
                      <a:round/>
                      <a:headEnd type="none" w="med" len="med"/>
                      <a:tailEnd type="none" w="med" len="med"/>
                    </a:lnR>
                    <a:lnT w="9525" cap="flat" cmpd="sng" algn="ctr">
                      <a:solidFill>
                        <a:srgbClr val="C9D3DB"/>
                      </a:solidFill>
                      <a:prstDash val="solid"/>
                      <a:round/>
                      <a:headEnd type="none" w="med" len="med"/>
                      <a:tailEnd type="none" w="med" len="med"/>
                    </a:lnT>
                    <a:lnB w="9525" cap="flat" cmpd="sng" algn="ctr">
                      <a:solidFill>
                        <a:srgbClr val="C9D3DB"/>
                      </a:solidFill>
                      <a:prstDash val="solid"/>
                      <a:round/>
                      <a:headEnd type="none" w="med" len="med"/>
                      <a:tailEnd type="none" w="med" len="med"/>
                    </a:lnB>
                    <a:solidFill>
                      <a:srgbClr val="1F7A8C"/>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MAE</a:t>
                      </a:r>
                      <a:endParaRPr lang="en-US" sz="1300" dirty="0">
                        <a:latin typeface="Calibri" charset="0"/>
                        <a:ea typeface="Calibri" charset="0"/>
                        <a:cs typeface="Calibri" charset="0"/>
                      </a:endParaRPr>
                    </a:p>
                  </a:txBody>
                  <a:tcPr anchor="ctr">
                    <a:lnL w="9525" cap="flat" cmpd="sng" algn="ctr">
                      <a:solidFill>
                        <a:srgbClr val="C9D3DB"/>
                      </a:solidFill>
                      <a:prstDash val="solid"/>
                      <a:round/>
                      <a:headEnd type="none" w="med" len="med"/>
                      <a:tailEnd type="none" w="med" len="med"/>
                    </a:lnL>
                    <a:lnR w="9525" cap="flat" cmpd="sng" algn="ctr">
                      <a:solidFill>
                        <a:srgbClr val="C9D3DB"/>
                      </a:solidFill>
                      <a:prstDash val="solid"/>
                      <a:round/>
                      <a:headEnd type="none" w="med" len="med"/>
                      <a:tailEnd type="none" w="med" len="med"/>
                    </a:lnR>
                    <a:lnT w="9525" cap="flat" cmpd="sng" algn="ctr">
                      <a:solidFill>
                        <a:srgbClr val="C9D3DB"/>
                      </a:solidFill>
                      <a:prstDash val="solid"/>
                      <a:round/>
                      <a:headEnd type="none" w="med" len="med"/>
                      <a:tailEnd type="none" w="med" len="med"/>
                    </a:lnT>
                    <a:lnB w="9525" cap="flat" cmpd="sng" algn="ctr">
                      <a:solidFill>
                        <a:srgbClr val="C9D3DB"/>
                      </a:solidFill>
                      <a:prstDash val="solid"/>
                      <a:round/>
                      <a:headEnd type="none" w="med" len="med"/>
                      <a:tailEnd type="none" w="med" len="med"/>
                    </a:lnB>
                    <a:solidFill>
                      <a:srgbClr val="1F7A8C"/>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RMSE</a:t>
                      </a:r>
                      <a:endParaRPr lang="en-US" sz="1300" dirty="0">
                        <a:latin typeface="Calibri" charset="0"/>
                        <a:ea typeface="Calibri" charset="0"/>
                        <a:cs typeface="Calibri" charset="0"/>
                      </a:endParaRPr>
                    </a:p>
                  </a:txBody>
                  <a:tcPr anchor="ctr">
                    <a:lnL w="9525" cap="flat" cmpd="sng" algn="ctr">
                      <a:solidFill>
                        <a:srgbClr val="C9D3DB"/>
                      </a:solidFill>
                      <a:prstDash val="solid"/>
                      <a:round/>
                      <a:headEnd type="none" w="med" len="med"/>
                      <a:tailEnd type="none" w="med" len="med"/>
                    </a:lnL>
                    <a:lnR w="9525" cap="flat" cmpd="sng" algn="ctr">
                      <a:solidFill>
                        <a:srgbClr val="C9D3DB"/>
                      </a:solidFill>
                      <a:prstDash val="solid"/>
                      <a:round/>
                      <a:headEnd type="none" w="med" len="med"/>
                      <a:tailEnd type="none" w="med" len="med"/>
                    </a:lnR>
                    <a:lnT w="9525" cap="flat" cmpd="sng" algn="ctr">
                      <a:solidFill>
                        <a:srgbClr val="C9D3DB"/>
                      </a:solidFill>
                      <a:prstDash val="solid"/>
                      <a:round/>
                      <a:headEnd type="none" w="med" len="med"/>
                      <a:tailEnd type="none" w="med" len="med"/>
                    </a:lnT>
                    <a:lnB w="9525" cap="flat" cmpd="sng" algn="ctr">
                      <a:solidFill>
                        <a:srgbClr val="C9D3DB"/>
                      </a:solidFill>
                      <a:prstDash val="solid"/>
                      <a:round/>
                      <a:headEnd type="none" w="med" len="med"/>
                      <a:tailEnd type="none" w="med" len="med"/>
                    </a:lnB>
                    <a:solidFill>
                      <a:srgbClr val="1F7A8C"/>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CV R²</a:t>
                      </a:r>
                      <a:endParaRPr lang="en-US" sz="1300" dirty="0">
                        <a:latin typeface="Calibri" charset="0"/>
                        <a:ea typeface="Calibri" charset="0"/>
                        <a:cs typeface="Calibri" charset="0"/>
                      </a:endParaRPr>
                    </a:p>
                  </a:txBody>
                  <a:tcPr anchor="ctr">
                    <a:lnL w="9525" cap="flat" cmpd="sng" algn="ctr">
                      <a:solidFill>
                        <a:srgbClr val="C9D3DB"/>
                      </a:solidFill>
                      <a:prstDash val="solid"/>
                      <a:round/>
                      <a:headEnd type="none" w="med" len="med"/>
                      <a:tailEnd type="none" w="med" len="med"/>
                    </a:lnL>
                    <a:lnR w="9525" cap="flat" cmpd="sng" algn="ctr">
                      <a:solidFill>
                        <a:srgbClr val="C9D3DB"/>
                      </a:solidFill>
                      <a:prstDash val="solid"/>
                      <a:round/>
                      <a:headEnd type="none" w="med" len="med"/>
                      <a:tailEnd type="none" w="med" len="med"/>
                    </a:lnR>
                    <a:lnT w="9525" cap="flat" cmpd="sng" algn="ctr">
                      <a:solidFill>
                        <a:srgbClr val="C9D3DB"/>
                      </a:solidFill>
                      <a:prstDash val="solid"/>
                      <a:round/>
                      <a:headEnd type="none" w="med" len="med"/>
                      <a:tailEnd type="none" w="med" len="med"/>
                    </a:lnT>
                    <a:lnB w="9525" cap="flat" cmpd="sng" algn="ctr">
                      <a:solidFill>
                        <a:srgbClr val="C9D3DB"/>
                      </a:solidFill>
                      <a:prstDash val="solid"/>
                      <a:round/>
                      <a:headEnd type="none" w="med" len="med"/>
                      <a:tailEnd type="none" w="med" len="med"/>
                    </a:lnB>
                    <a:solidFill>
                      <a:srgbClr val="1F7A8C"/>
                    </a:solidFill>
                  </a:tcPr>
                </a:tc>
                <a:extLst>
                  <a:ext uri="{0D108BD9-81ED-4DB2-BD59-A6C34878D82A}">
                    <a16:rowId xmlns:a16="http://schemas.microsoft.com/office/drawing/2014/main" val="10000"/>
                  </a:ext>
                </a:extLst>
              </a:tr>
              <a:tr h="438912">
                <a:tc>
                  <a:txBody>
                    <a:bodyPr/>
                    <a:lstStyle/>
                    <a:p>
                      <a:pPr marL="0" indent="0">
                        <a:buNone/>
                      </a:pPr>
                      <a:r>
                        <a:rPr lang="en-US" sz="1300" dirty="0">
                          <a:solidFill>
                            <a:srgbClr val="1B2A38"/>
                          </a:solidFill>
                          <a:latin typeface="Calibri" pitchFamily="34" charset="0"/>
                          <a:ea typeface="Calibri" pitchFamily="34" charset="-122"/>
                          <a:cs typeface="Calibri" pitchFamily="34" charset="-120"/>
                        </a:rPr>
                        <a:t>d50 (µm)</a:t>
                      </a:r>
                      <a:endParaRPr lang="en-US" sz="1300" dirty="0">
                        <a:latin typeface="Calibri" charset="0"/>
                        <a:ea typeface="Calibri" charset="0"/>
                        <a:cs typeface="Calibri" charset="0"/>
                      </a:endParaRPr>
                    </a:p>
                  </a:txBody>
                  <a:tcPr anchor="ctr">
                    <a:lnL w="9525" cap="flat" cmpd="sng" algn="ctr">
                      <a:solidFill>
                        <a:srgbClr val="C9D3DB"/>
                      </a:solidFill>
                      <a:prstDash val="solid"/>
                      <a:round/>
                      <a:headEnd type="none" w="med" len="med"/>
                      <a:tailEnd type="none" w="med" len="med"/>
                    </a:lnL>
                    <a:lnR w="9525" cap="flat" cmpd="sng" algn="ctr">
                      <a:solidFill>
                        <a:srgbClr val="C9D3DB"/>
                      </a:solidFill>
                      <a:prstDash val="solid"/>
                      <a:round/>
                      <a:headEnd type="none" w="med" len="med"/>
                      <a:tailEnd type="none" w="med" len="med"/>
                    </a:lnR>
                    <a:lnT w="9525" cap="flat" cmpd="sng" algn="ctr">
                      <a:solidFill>
                        <a:srgbClr val="C9D3DB"/>
                      </a:solidFill>
                      <a:prstDash val="solid"/>
                      <a:round/>
                      <a:headEnd type="none" w="med" len="med"/>
                      <a:tailEnd type="none" w="med" len="med"/>
                    </a:lnT>
                    <a:lnB w="9525" cap="flat" cmpd="sng" algn="ctr">
                      <a:solidFill>
                        <a:srgbClr val="C9D3DB"/>
                      </a:solidFill>
                      <a:prstDash val="solid"/>
                      <a:round/>
                      <a:headEnd type="none" w="med" len="med"/>
                      <a:tailEnd type="none" w="med" len="med"/>
                    </a:lnB>
                  </a:tcPr>
                </a:tc>
                <a:tc>
                  <a:txBody>
                    <a:bodyPr/>
                    <a:lstStyle/>
                    <a:p>
                      <a:pPr marL="0" indent="0">
                        <a:buNone/>
                      </a:pPr>
                      <a:r>
                        <a:rPr lang="en-US" sz="1300" dirty="0">
                          <a:solidFill>
                            <a:srgbClr val="1B2A38"/>
                          </a:solidFill>
                          <a:latin typeface="Calibri" pitchFamily="34" charset="0"/>
                          <a:ea typeface="Calibri" pitchFamily="34" charset="-122"/>
                          <a:cs typeface="Calibri" pitchFamily="34" charset="-120"/>
                        </a:rPr>
                        <a:t>RF</a:t>
                      </a:r>
                      <a:endParaRPr lang="en-US" sz="1300" dirty="0">
                        <a:latin typeface="Calibri" charset="0"/>
                        <a:ea typeface="Calibri" charset="0"/>
                        <a:cs typeface="Calibri" charset="0"/>
                      </a:endParaRPr>
                    </a:p>
                  </a:txBody>
                  <a:tcPr anchor="ctr">
                    <a:lnL w="9525" cap="flat" cmpd="sng" algn="ctr">
                      <a:solidFill>
                        <a:srgbClr val="C9D3DB"/>
                      </a:solidFill>
                      <a:prstDash val="solid"/>
                      <a:round/>
                      <a:headEnd type="none" w="med" len="med"/>
                      <a:tailEnd type="none" w="med" len="med"/>
                    </a:lnL>
                    <a:lnR w="9525" cap="flat" cmpd="sng" algn="ctr">
                      <a:solidFill>
                        <a:srgbClr val="C9D3DB"/>
                      </a:solidFill>
                      <a:prstDash val="solid"/>
                      <a:round/>
                      <a:headEnd type="none" w="med" len="med"/>
                      <a:tailEnd type="none" w="med" len="med"/>
                    </a:lnR>
                    <a:lnT w="9525" cap="flat" cmpd="sng" algn="ctr">
                      <a:solidFill>
                        <a:srgbClr val="C9D3DB"/>
                      </a:solidFill>
                      <a:prstDash val="solid"/>
                      <a:round/>
                      <a:headEnd type="none" w="med" len="med"/>
                      <a:tailEnd type="none" w="med" len="med"/>
                    </a:lnT>
                    <a:lnB w="9525" cap="flat" cmpd="sng" algn="ctr">
                      <a:solidFill>
                        <a:srgbClr val="C9D3DB"/>
                      </a:solidFill>
                      <a:prstDash val="solid"/>
                      <a:round/>
                      <a:headEnd type="none" w="med" len="med"/>
                      <a:tailEnd type="none" w="med" len="med"/>
                    </a:lnB>
                  </a:tcPr>
                </a:tc>
                <a:tc>
                  <a:txBody>
                    <a:bodyPr/>
                    <a:lstStyle/>
                    <a:p>
                      <a:pPr marL="0" indent="0">
                        <a:buNone/>
                      </a:pPr>
                      <a:r>
                        <a:rPr lang="en-US" sz="1300" dirty="0">
                          <a:solidFill>
                            <a:srgbClr val="1B2A38"/>
                          </a:solidFill>
                          <a:latin typeface="Calibri" pitchFamily="34" charset="0"/>
                          <a:ea typeface="Calibri" pitchFamily="34" charset="-122"/>
                          <a:cs typeface="Calibri" pitchFamily="34" charset="-120"/>
                        </a:rPr>
                        <a:t>11.24</a:t>
                      </a:r>
                      <a:endParaRPr lang="en-US" sz="1300" dirty="0">
                        <a:latin typeface="Calibri" charset="0"/>
                        <a:ea typeface="Calibri" charset="0"/>
                        <a:cs typeface="Calibri" charset="0"/>
                      </a:endParaRPr>
                    </a:p>
                  </a:txBody>
                  <a:tcPr anchor="ctr">
                    <a:lnL w="9525" cap="flat" cmpd="sng" algn="ctr">
                      <a:solidFill>
                        <a:srgbClr val="C9D3DB"/>
                      </a:solidFill>
                      <a:prstDash val="solid"/>
                      <a:round/>
                      <a:headEnd type="none" w="med" len="med"/>
                      <a:tailEnd type="none" w="med" len="med"/>
                    </a:lnL>
                    <a:lnR w="9525" cap="flat" cmpd="sng" algn="ctr">
                      <a:solidFill>
                        <a:srgbClr val="C9D3DB"/>
                      </a:solidFill>
                      <a:prstDash val="solid"/>
                      <a:round/>
                      <a:headEnd type="none" w="med" len="med"/>
                      <a:tailEnd type="none" w="med" len="med"/>
                    </a:lnR>
                    <a:lnT w="9525" cap="flat" cmpd="sng" algn="ctr">
                      <a:solidFill>
                        <a:srgbClr val="C9D3DB"/>
                      </a:solidFill>
                      <a:prstDash val="solid"/>
                      <a:round/>
                      <a:headEnd type="none" w="med" len="med"/>
                      <a:tailEnd type="none" w="med" len="med"/>
                    </a:lnT>
                    <a:lnB w="9525" cap="flat" cmpd="sng" algn="ctr">
                      <a:solidFill>
                        <a:srgbClr val="C9D3DB"/>
                      </a:solidFill>
                      <a:prstDash val="solid"/>
                      <a:round/>
                      <a:headEnd type="none" w="med" len="med"/>
                      <a:tailEnd type="none" w="med" len="med"/>
                    </a:lnB>
                  </a:tcPr>
                </a:tc>
                <a:tc>
                  <a:txBody>
                    <a:bodyPr/>
                    <a:lstStyle/>
                    <a:p>
                      <a:pPr marL="0" indent="0">
                        <a:buNone/>
                      </a:pPr>
                      <a:r>
                        <a:rPr lang="en-US" sz="1300" dirty="0">
                          <a:solidFill>
                            <a:srgbClr val="1B2A38"/>
                          </a:solidFill>
                          <a:latin typeface="Calibri" pitchFamily="34" charset="0"/>
                          <a:ea typeface="Calibri" pitchFamily="34" charset="-122"/>
                          <a:cs typeface="Calibri" pitchFamily="34" charset="-120"/>
                        </a:rPr>
                        <a:t>13.95</a:t>
                      </a:r>
                      <a:endParaRPr lang="en-US" sz="1300" dirty="0">
                        <a:latin typeface="Calibri" charset="0"/>
                        <a:ea typeface="Calibri" charset="0"/>
                        <a:cs typeface="Calibri" charset="0"/>
                      </a:endParaRPr>
                    </a:p>
                  </a:txBody>
                  <a:tcPr anchor="ctr">
                    <a:lnL w="9525" cap="flat" cmpd="sng" algn="ctr">
                      <a:solidFill>
                        <a:srgbClr val="C9D3DB"/>
                      </a:solidFill>
                      <a:prstDash val="solid"/>
                      <a:round/>
                      <a:headEnd type="none" w="med" len="med"/>
                      <a:tailEnd type="none" w="med" len="med"/>
                    </a:lnL>
                    <a:lnR w="9525" cap="flat" cmpd="sng" algn="ctr">
                      <a:solidFill>
                        <a:srgbClr val="C9D3DB"/>
                      </a:solidFill>
                      <a:prstDash val="solid"/>
                      <a:round/>
                      <a:headEnd type="none" w="med" len="med"/>
                      <a:tailEnd type="none" w="med" len="med"/>
                    </a:lnR>
                    <a:lnT w="9525" cap="flat" cmpd="sng" algn="ctr">
                      <a:solidFill>
                        <a:srgbClr val="C9D3DB"/>
                      </a:solidFill>
                      <a:prstDash val="solid"/>
                      <a:round/>
                      <a:headEnd type="none" w="med" len="med"/>
                      <a:tailEnd type="none" w="med" len="med"/>
                    </a:lnT>
                    <a:lnB w="9525" cap="flat" cmpd="sng" algn="ctr">
                      <a:solidFill>
                        <a:srgbClr val="C9D3DB"/>
                      </a:solidFill>
                      <a:prstDash val="solid"/>
                      <a:round/>
                      <a:headEnd type="none" w="med" len="med"/>
                      <a:tailEnd type="none" w="med" len="med"/>
                    </a:lnB>
                  </a:tcPr>
                </a:tc>
                <a:tc>
                  <a:txBody>
                    <a:bodyPr/>
                    <a:lstStyle/>
                    <a:p>
                      <a:pPr marL="0" indent="0">
                        <a:buNone/>
                      </a:pPr>
                      <a:r>
                        <a:rPr lang="en-US" sz="1300" dirty="0">
                          <a:solidFill>
                            <a:srgbClr val="1B2A38"/>
                          </a:solidFill>
                          <a:latin typeface="Calibri" pitchFamily="34" charset="0"/>
                          <a:ea typeface="Calibri" pitchFamily="34" charset="-122"/>
                          <a:cs typeface="Calibri" pitchFamily="34" charset="-120"/>
                        </a:rPr>
                        <a:t>0.905</a:t>
                      </a:r>
                      <a:endParaRPr lang="en-US" sz="1300" dirty="0">
                        <a:latin typeface="Calibri" charset="0"/>
                        <a:ea typeface="Calibri" charset="0"/>
                        <a:cs typeface="Calibri" charset="0"/>
                      </a:endParaRPr>
                    </a:p>
                  </a:txBody>
                  <a:tcPr anchor="ctr">
                    <a:lnL w="9525" cap="flat" cmpd="sng" algn="ctr">
                      <a:solidFill>
                        <a:srgbClr val="C9D3DB"/>
                      </a:solidFill>
                      <a:prstDash val="solid"/>
                      <a:round/>
                      <a:headEnd type="none" w="med" len="med"/>
                      <a:tailEnd type="none" w="med" len="med"/>
                    </a:lnL>
                    <a:lnR w="9525" cap="flat" cmpd="sng" algn="ctr">
                      <a:solidFill>
                        <a:srgbClr val="C9D3DB"/>
                      </a:solidFill>
                      <a:prstDash val="solid"/>
                      <a:round/>
                      <a:headEnd type="none" w="med" len="med"/>
                      <a:tailEnd type="none" w="med" len="med"/>
                    </a:lnR>
                    <a:lnT w="9525" cap="flat" cmpd="sng" algn="ctr">
                      <a:solidFill>
                        <a:srgbClr val="C9D3DB"/>
                      </a:solidFill>
                      <a:prstDash val="solid"/>
                      <a:round/>
                      <a:headEnd type="none" w="med" len="med"/>
                      <a:tailEnd type="none" w="med" len="med"/>
                    </a:lnT>
                    <a:lnB w="9525" cap="flat" cmpd="sng" algn="ctr">
                      <a:solidFill>
                        <a:srgbClr val="C9D3DB"/>
                      </a:solidFill>
                      <a:prstDash val="solid"/>
                      <a:round/>
                      <a:headEnd type="none" w="med" len="med"/>
                      <a:tailEnd type="none" w="med" len="med"/>
                    </a:lnB>
                  </a:tcPr>
                </a:tc>
                <a:extLst>
                  <a:ext uri="{0D108BD9-81ED-4DB2-BD59-A6C34878D82A}">
                    <a16:rowId xmlns:a16="http://schemas.microsoft.com/office/drawing/2014/main" val="10001"/>
                  </a:ext>
                </a:extLst>
              </a:tr>
              <a:tr h="438912">
                <a:tc>
                  <a:txBody>
                    <a:bodyPr/>
                    <a:lstStyle/>
                    <a:p>
                      <a:pPr marL="0" indent="0">
                        <a:buNone/>
                      </a:pPr>
                      <a:r>
                        <a:rPr lang="en-US" sz="1300" dirty="0">
                          <a:solidFill>
                            <a:srgbClr val="1B2A38"/>
                          </a:solidFill>
                          <a:latin typeface="Calibri" pitchFamily="34" charset="0"/>
                          <a:ea typeface="Calibri" pitchFamily="34" charset="-122"/>
                          <a:cs typeface="Calibri" pitchFamily="34" charset="-120"/>
                        </a:rPr>
                        <a:t>d50 (µm)</a:t>
                      </a:r>
                      <a:endParaRPr lang="en-US" sz="1300" dirty="0">
                        <a:latin typeface="Calibri" charset="0"/>
                        <a:ea typeface="Calibri" charset="0"/>
                        <a:cs typeface="Calibri" charset="0"/>
                      </a:endParaRPr>
                    </a:p>
                  </a:txBody>
                  <a:tcPr anchor="ctr">
                    <a:lnL w="9525" cap="flat" cmpd="sng" algn="ctr">
                      <a:solidFill>
                        <a:srgbClr val="C9D3DB"/>
                      </a:solidFill>
                      <a:prstDash val="solid"/>
                      <a:round/>
                      <a:headEnd type="none" w="med" len="med"/>
                      <a:tailEnd type="none" w="med" len="med"/>
                    </a:lnL>
                    <a:lnR w="9525" cap="flat" cmpd="sng" algn="ctr">
                      <a:solidFill>
                        <a:srgbClr val="C9D3DB"/>
                      </a:solidFill>
                      <a:prstDash val="solid"/>
                      <a:round/>
                      <a:headEnd type="none" w="med" len="med"/>
                      <a:tailEnd type="none" w="med" len="med"/>
                    </a:lnR>
                    <a:lnT w="9525" cap="flat" cmpd="sng" algn="ctr">
                      <a:solidFill>
                        <a:srgbClr val="C9D3DB"/>
                      </a:solidFill>
                      <a:prstDash val="solid"/>
                      <a:round/>
                      <a:headEnd type="none" w="med" len="med"/>
                      <a:tailEnd type="none" w="med" len="med"/>
                    </a:lnT>
                    <a:lnB w="9525" cap="flat" cmpd="sng" algn="ctr">
                      <a:solidFill>
                        <a:srgbClr val="C9D3DB"/>
                      </a:solidFill>
                      <a:prstDash val="solid"/>
                      <a:round/>
                      <a:headEnd type="none" w="med" len="med"/>
                      <a:tailEnd type="none" w="med" len="med"/>
                    </a:lnB>
                  </a:tcPr>
                </a:tc>
                <a:tc>
                  <a:txBody>
                    <a:bodyPr/>
                    <a:lstStyle/>
                    <a:p>
                      <a:pPr marL="0" indent="0">
                        <a:buNone/>
                      </a:pPr>
                      <a:r>
                        <a:rPr lang="en-US" sz="1300" b="1" dirty="0">
                          <a:solidFill>
                            <a:srgbClr val="1B2A38"/>
                          </a:solidFill>
                          <a:latin typeface="Calibri" pitchFamily="34" charset="0"/>
                          <a:ea typeface="Calibri" pitchFamily="34" charset="-122"/>
                          <a:cs typeface="Calibri" pitchFamily="34" charset="-120"/>
                        </a:rPr>
                        <a:t>SVR</a:t>
                      </a:r>
                      <a:endParaRPr lang="en-US" sz="1300" dirty="0">
                        <a:latin typeface="Calibri" charset="0"/>
                        <a:ea typeface="Calibri" charset="0"/>
                        <a:cs typeface="Calibri" charset="0"/>
                      </a:endParaRPr>
                    </a:p>
                  </a:txBody>
                  <a:tcPr anchor="ctr">
                    <a:lnL w="9525" cap="flat" cmpd="sng" algn="ctr">
                      <a:solidFill>
                        <a:srgbClr val="C9D3DB"/>
                      </a:solidFill>
                      <a:prstDash val="solid"/>
                      <a:round/>
                      <a:headEnd type="none" w="med" len="med"/>
                      <a:tailEnd type="none" w="med" len="med"/>
                    </a:lnL>
                    <a:lnR w="9525" cap="flat" cmpd="sng" algn="ctr">
                      <a:solidFill>
                        <a:srgbClr val="C9D3DB"/>
                      </a:solidFill>
                      <a:prstDash val="solid"/>
                      <a:round/>
                      <a:headEnd type="none" w="med" len="med"/>
                      <a:tailEnd type="none" w="med" len="med"/>
                    </a:lnR>
                    <a:lnT w="9525" cap="flat" cmpd="sng" algn="ctr">
                      <a:solidFill>
                        <a:srgbClr val="C9D3DB"/>
                      </a:solidFill>
                      <a:prstDash val="solid"/>
                      <a:round/>
                      <a:headEnd type="none" w="med" len="med"/>
                      <a:tailEnd type="none" w="med" len="med"/>
                    </a:lnT>
                    <a:lnB w="9525" cap="flat" cmpd="sng" algn="ctr">
                      <a:solidFill>
                        <a:srgbClr val="C9D3DB"/>
                      </a:solidFill>
                      <a:prstDash val="solid"/>
                      <a:round/>
                      <a:headEnd type="none" w="med" len="med"/>
                      <a:tailEnd type="none" w="med" len="med"/>
                    </a:lnB>
                  </a:tcPr>
                </a:tc>
                <a:tc>
                  <a:txBody>
                    <a:bodyPr/>
                    <a:lstStyle/>
                    <a:p>
                      <a:pPr marL="0" indent="0">
                        <a:buNone/>
                      </a:pPr>
                      <a:r>
                        <a:rPr lang="en-US" sz="1300" b="1" dirty="0">
                          <a:solidFill>
                            <a:srgbClr val="1B2A38"/>
                          </a:solidFill>
                          <a:latin typeface="Calibri" pitchFamily="34" charset="0"/>
                          <a:ea typeface="Calibri" pitchFamily="34" charset="-122"/>
                          <a:cs typeface="Calibri" pitchFamily="34" charset="-120"/>
                        </a:rPr>
                        <a:t>10.49</a:t>
                      </a:r>
                      <a:endParaRPr lang="en-US" sz="1300" dirty="0">
                        <a:latin typeface="Calibri" charset="0"/>
                        <a:ea typeface="Calibri" charset="0"/>
                        <a:cs typeface="Calibri" charset="0"/>
                      </a:endParaRPr>
                    </a:p>
                  </a:txBody>
                  <a:tcPr anchor="ctr">
                    <a:lnL w="9525" cap="flat" cmpd="sng" algn="ctr">
                      <a:solidFill>
                        <a:srgbClr val="C9D3DB"/>
                      </a:solidFill>
                      <a:prstDash val="solid"/>
                      <a:round/>
                      <a:headEnd type="none" w="med" len="med"/>
                      <a:tailEnd type="none" w="med" len="med"/>
                    </a:lnL>
                    <a:lnR w="9525" cap="flat" cmpd="sng" algn="ctr">
                      <a:solidFill>
                        <a:srgbClr val="C9D3DB"/>
                      </a:solidFill>
                      <a:prstDash val="solid"/>
                      <a:round/>
                      <a:headEnd type="none" w="med" len="med"/>
                      <a:tailEnd type="none" w="med" len="med"/>
                    </a:lnR>
                    <a:lnT w="9525" cap="flat" cmpd="sng" algn="ctr">
                      <a:solidFill>
                        <a:srgbClr val="C9D3DB"/>
                      </a:solidFill>
                      <a:prstDash val="solid"/>
                      <a:round/>
                      <a:headEnd type="none" w="med" len="med"/>
                      <a:tailEnd type="none" w="med" len="med"/>
                    </a:lnT>
                    <a:lnB w="9525" cap="flat" cmpd="sng" algn="ctr">
                      <a:solidFill>
                        <a:srgbClr val="C9D3DB"/>
                      </a:solidFill>
                      <a:prstDash val="solid"/>
                      <a:round/>
                      <a:headEnd type="none" w="med" len="med"/>
                      <a:tailEnd type="none" w="med" len="med"/>
                    </a:lnB>
                  </a:tcPr>
                </a:tc>
                <a:tc>
                  <a:txBody>
                    <a:bodyPr/>
                    <a:lstStyle/>
                    <a:p>
                      <a:pPr marL="0" indent="0">
                        <a:buNone/>
                      </a:pPr>
                      <a:r>
                        <a:rPr lang="en-US" sz="1300" b="1" dirty="0">
                          <a:solidFill>
                            <a:srgbClr val="1B2A38"/>
                          </a:solidFill>
                          <a:latin typeface="Calibri" pitchFamily="34" charset="0"/>
                          <a:ea typeface="Calibri" pitchFamily="34" charset="-122"/>
                          <a:cs typeface="Calibri" pitchFamily="34" charset="-120"/>
                        </a:rPr>
                        <a:t>12.97</a:t>
                      </a:r>
                      <a:endParaRPr lang="en-US" sz="1300" dirty="0">
                        <a:latin typeface="Calibri" charset="0"/>
                        <a:ea typeface="Calibri" charset="0"/>
                        <a:cs typeface="Calibri" charset="0"/>
                      </a:endParaRPr>
                    </a:p>
                  </a:txBody>
                  <a:tcPr anchor="ctr">
                    <a:lnL w="9525" cap="flat" cmpd="sng" algn="ctr">
                      <a:solidFill>
                        <a:srgbClr val="C9D3DB"/>
                      </a:solidFill>
                      <a:prstDash val="solid"/>
                      <a:round/>
                      <a:headEnd type="none" w="med" len="med"/>
                      <a:tailEnd type="none" w="med" len="med"/>
                    </a:lnL>
                    <a:lnR w="9525" cap="flat" cmpd="sng" algn="ctr">
                      <a:solidFill>
                        <a:srgbClr val="C9D3DB"/>
                      </a:solidFill>
                      <a:prstDash val="solid"/>
                      <a:round/>
                      <a:headEnd type="none" w="med" len="med"/>
                      <a:tailEnd type="none" w="med" len="med"/>
                    </a:lnR>
                    <a:lnT w="9525" cap="flat" cmpd="sng" algn="ctr">
                      <a:solidFill>
                        <a:srgbClr val="C9D3DB"/>
                      </a:solidFill>
                      <a:prstDash val="solid"/>
                      <a:round/>
                      <a:headEnd type="none" w="med" len="med"/>
                      <a:tailEnd type="none" w="med" len="med"/>
                    </a:lnT>
                    <a:lnB w="9525" cap="flat" cmpd="sng" algn="ctr">
                      <a:solidFill>
                        <a:srgbClr val="C9D3DB"/>
                      </a:solidFill>
                      <a:prstDash val="solid"/>
                      <a:round/>
                      <a:headEnd type="none" w="med" len="med"/>
                      <a:tailEnd type="none" w="med" len="med"/>
                    </a:lnB>
                  </a:tcPr>
                </a:tc>
                <a:tc>
                  <a:txBody>
                    <a:bodyPr/>
                    <a:lstStyle/>
                    <a:p>
                      <a:pPr marL="0" indent="0">
                        <a:buNone/>
                      </a:pPr>
                      <a:r>
                        <a:rPr lang="en-US" sz="1300" b="1" dirty="0">
                          <a:solidFill>
                            <a:srgbClr val="1B2A38"/>
                          </a:solidFill>
                          <a:latin typeface="Calibri" pitchFamily="34" charset="0"/>
                          <a:ea typeface="Calibri" pitchFamily="34" charset="-122"/>
                          <a:cs typeface="Calibri" pitchFamily="34" charset="-120"/>
                        </a:rPr>
                        <a:t>0.920</a:t>
                      </a:r>
                      <a:endParaRPr lang="en-US" sz="1300" dirty="0">
                        <a:latin typeface="Calibri" charset="0"/>
                        <a:ea typeface="Calibri" charset="0"/>
                        <a:cs typeface="Calibri" charset="0"/>
                      </a:endParaRPr>
                    </a:p>
                  </a:txBody>
                  <a:tcPr anchor="ctr">
                    <a:lnL w="9525" cap="flat" cmpd="sng" algn="ctr">
                      <a:solidFill>
                        <a:srgbClr val="C9D3DB"/>
                      </a:solidFill>
                      <a:prstDash val="solid"/>
                      <a:round/>
                      <a:headEnd type="none" w="med" len="med"/>
                      <a:tailEnd type="none" w="med" len="med"/>
                    </a:lnL>
                    <a:lnR w="9525" cap="flat" cmpd="sng" algn="ctr">
                      <a:solidFill>
                        <a:srgbClr val="C9D3DB"/>
                      </a:solidFill>
                      <a:prstDash val="solid"/>
                      <a:round/>
                      <a:headEnd type="none" w="med" len="med"/>
                      <a:tailEnd type="none" w="med" len="med"/>
                    </a:lnR>
                    <a:lnT w="9525" cap="flat" cmpd="sng" algn="ctr">
                      <a:solidFill>
                        <a:srgbClr val="C9D3DB"/>
                      </a:solidFill>
                      <a:prstDash val="solid"/>
                      <a:round/>
                      <a:headEnd type="none" w="med" len="med"/>
                      <a:tailEnd type="none" w="med" len="med"/>
                    </a:lnT>
                    <a:lnB w="9525" cap="flat" cmpd="sng" algn="ctr">
                      <a:solidFill>
                        <a:srgbClr val="C9D3DB"/>
                      </a:solidFill>
                      <a:prstDash val="solid"/>
                      <a:round/>
                      <a:headEnd type="none" w="med" len="med"/>
                      <a:tailEnd type="none" w="med" len="med"/>
                    </a:lnB>
                  </a:tcPr>
                </a:tc>
                <a:extLst>
                  <a:ext uri="{0D108BD9-81ED-4DB2-BD59-A6C34878D82A}">
                    <a16:rowId xmlns:a16="http://schemas.microsoft.com/office/drawing/2014/main" val="10002"/>
                  </a:ext>
                </a:extLst>
              </a:tr>
              <a:tr h="438912">
                <a:tc>
                  <a:txBody>
                    <a:bodyPr/>
                    <a:lstStyle/>
                    <a:p>
                      <a:pPr marL="0" indent="0">
                        <a:buNone/>
                      </a:pPr>
                      <a:r>
                        <a:rPr lang="en-US" sz="1300" dirty="0">
                          <a:solidFill>
                            <a:srgbClr val="1B2A38"/>
                          </a:solidFill>
                          <a:latin typeface="Calibri" pitchFamily="34" charset="0"/>
                          <a:ea typeface="Calibri" pitchFamily="34" charset="-122"/>
                          <a:cs typeface="Calibri" pitchFamily="34" charset="-120"/>
                        </a:rPr>
                        <a:t>σ² (µm²)</a:t>
                      </a:r>
                      <a:endParaRPr lang="en-US" sz="1300" dirty="0">
                        <a:latin typeface="Calibri" charset="0"/>
                        <a:ea typeface="Calibri" charset="0"/>
                        <a:cs typeface="Calibri" charset="0"/>
                      </a:endParaRPr>
                    </a:p>
                  </a:txBody>
                  <a:tcPr anchor="ctr">
                    <a:lnL w="9525" cap="flat" cmpd="sng" algn="ctr">
                      <a:solidFill>
                        <a:srgbClr val="C9D3DB"/>
                      </a:solidFill>
                      <a:prstDash val="solid"/>
                      <a:round/>
                      <a:headEnd type="none" w="med" len="med"/>
                      <a:tailEnd type="none" w="med" len="med"/>
                    </a:lnL>
                    <a:lnR w="9525" cap="flat" cmpd="sng" algn="ctr">
                      <a:solidFill>
                        <a:srgbClr val="C9D3DB"/>
                      </a:solidFill>
                      <a:prstDash val="solid"/>
                      <a:round/>
                      <a:headEnd type="none" w="med" len="med"/>
                      <a:tailEnd type="none" w="med" len="med"/>
                    </a:lnR>
                    <a:lnT w="9525" cap="flat" cmpd="sng" algn="ctr">
                      <a:solidFill>
                        <a:srgbClr val="C9D3DB"/>
                      </a:solidFill>
                      <a:prstDash val="solid"/>
                      <a:round/>
                      <a:headEnd type="none" w="med" len="med"/>
                      <a:tailEnd type="none" w="med" len="med"/>
                    </a:lnT>
                    <a:lnB w="9525" cap="flat" cmpd="sng" algn="ctr">
                      <a:solidFill>
                        <a:srgbClr val="C9D3DB"/>
                      </a:solidFill>
                      <a:prstDash val="solid"/>
                      <a:round/>
                      <a:headEnd type="none" w="med" len="med"/>
                      <a:tailEnd type="none" w="med" len="med"/>
                    </a:lnB>
                  </a:tcPr>
                </a:tc>
                <a:tc>
                  <a:txBody>
                    <a:bodyPr/>
                    <a:lstStyle/>
                    <a:p>
                      <a:pPr marL="0" indent="0">
                        <a:buNone/>
                      </a:pPr>
                      <a:r>
                        <a:rPr lang="en-US" sz="1300" dirty="0">
                          <a:solidFill>
                            <a:srgbClr val="1B2A38"/>
                          </a:solidFill>
                          <a:latin typeface="Calibri" pitchFamily="34" charset="0"/>
                          <a:ea typeface="Calibri" pitchFamily="34" charset="-122"/>
                          <a:cs typeface="Calibri" pitchFamily="34" charset="-120"/>
                        </a:rPr>
                        <a:t>RF</a:t>
                      </a:r>
                      <a:endParaRPr lang="en-US" sz="1300" dirty="0">
                        <a:latin typeface="Calibri" charset="0"/>
                        <a:ea typeface="Calibri" charset="0"/>
                        <a:cs typeface="Calibri" charset="0"/>
                      </a:endParaRPr>
                    </a:p>
                  </a:txBody>
                  <a:tcPr anchor="ctr">
                    <a:lnL w="9525" cap="flat" cmpd="sng" algn="ctr">
                      <a:solidFill>
                        <a:srgbClr val="C9D3DB"/>
                      </a:solidFill>
                      <a:prstDash val="solid"/>
                      <a:round/>
                      <a:headEnd type="none" w="med" len="med"/>
                      <a:tailEnd type="none" w="med" len="med"/>
                    </a:lnL>
                    <a:lnR w="9525" cap="flat" cmpd="sng" algn="ctr">
                      <a:solidFill>
                        <a:srgbClr val="C9D3DB"/>
                      </a:solidFill>
                      <a:prstDash val="solid"/>
                      <a:round/>
                      <a:headEnd type="none" w="med" len="med"/>
                      <a:tailEnd type="none" w="med" len="med"/>
                    </a:lnR>
                    <a:lnT w="9525" cap="flat" cmpd="sng" algn="ctr">
                      <a:solidFill>
                        <a:srgbClr val="C9D3DB"/>
                      </a:solidFill>
                      <a:prstDash val="solid"/>
                      <a:round/>
                      <a:headEnd type="none" w="med" len="med"/>
                      <a:tailEnd type="none" w="med" len="med"/>
                    </a:lnT>
                    <a:lnB w="9525" cap="flat" cmpd="sng" algn="ctr">
                      <a:solidFill>
                        <a:srgbClr val="C9D3DB"/>
                      </a:solidFill>
                      <a:prstDash val="solid"/>
                      <a:round/>
                      <a:headEnd type="none" w="med" len="med"/>
                      <a:tailEnd type="none" w="med" len="med"/>
                    </a:lnB>
                  </a:tcPr>
                </a:tc>
                <a:tc>
                  <a:txBody>
                    <a:bodyPr/>
                    <a:lstStyle/>
                    <a:p>
                      <a:pPr marL="0" indent="0">
                        <a:buNone/>
                      </a:pPr>
                      <a:r>
                        <a:rPr lang="en-US" sz="1300" dirty="0">
                          <a:solidFill>
                            <a:srgbClr val="1B2A38"/>
                          </a:solidFill>
                          <a:latin typeface="Calibri" pitchFamily="34" charset="0"/>
                          <a:ea typeface="Calibri" pitchFamily="34" charset="-122"/>
                          <a:cs typeface="Calibri" pitchFamily="34" charset="-120"/>
                        </a:rPr>
                        <a:t>7.98</a:t>
                      </a:r>
                      <a:endParaRPr lang="en-US" sz="1300" dirty="0">
                        <a:latin typeface="Calibri" charset="0"/>
                        <a:ea typeface="Calibri" charset="0"/>
                        <a:cs typeface="Calibri" charset="0"/>
                      </a:endParaRPr>
                    </a:p>
                  </a:txBody>
                  <a:tcPr anchor="ctr">
                    <a:lnL w="9525" cap="flat" cmpd="sng" algn="ctr">
                      <a:solidFill>
                        <a:srgbClr val="C9D3DB"/>
                      </a:solidFill>
                      <a:prstDash val="solid"/>
                      <a:round/>
                      <a:headEnd type="none" w="med" len="med"/>
                      <a:tailEnd type="none" w="med" len="med"/>
                    </a:lnL>
                    <a:lnR w="9525" cap="flat" cmpd="sng" algn="ctr">
                      <a:solidFill>
                        <a:srgbClr val="C9D3DB"/>
                      </a:solidFill>
                      <a:prstDash val="solid"/>
                      <a:round/>
                      <a:headEnd type="none" w="med" len="med"/>
                      <a:tailEnd type="none" w="med" len="med"/>
                    </a:lnR>
                    <a:lnT w="9525" cap="flat" cmpd="sng" algn="ctr">
                      <a:solidFill>
                        <a:srgbClr val="C9D3DB"/>
                      </a:solidFill>
                      <a:prstDash val="solid"/>
                      <a:round/>
                      <a:headEnd type="none" w="med" len="med"/>
                      <a:tailEnd type="none" w="med" len="med"/>
                    </a:lnT>
                    <a:lnB w="9525" cap="flat" cmpd="sng" algn="ctr">
                      <a:solidFill>
                        <a:srgbClr val="C9D3DB"/>
                      </a:solidFill>
                      <a:prstDash val="solid"/>
                      <a:round/>
                      <a:headEnd type="none" w="med" len="med"/>
                      <a:tailEnd type="none" w="med" len="med"/>
                    </a:lnB>
                  </a:tcPr>
                </a:tc>
                <a:tc>
                  <a:txBody>
                    <a:bodyPr/>
                    <a:lstStyle/>
                    <a:p>
                      <a:pPr marL="0" indent="0">
                        <a:buNone/>
                      </a:pPr>
                      <a:r>
                        <a:rPr lang="en-US" sz="1300" dirty="0">
                          <a:solidFill>
                            <a:srgbClr val="1B2A38"/>
                          </a:solidFill>
                          <a:latin typeface="Calibri" pitchFamily="34" charset="0"/>
                          <a:ea typeface="Calibri" pitchFamily="34" charset="-122"/>
                          <a:cs typeface="Calibri" pitchFamily="34" charset="-120"/>
                        </a:rPr>
                        <a:t>9.86</a:t>
                      </a:r>
                      <a:endParaRPr lang="en-US" sz="1300" dirty="0">
                        <a:latin typeface="Calibri" charset="0"/>
                        <a:ea typeface="Calibri" charset="0"/>
                        <a:cs typeface="Calibri" charset="0"/>
                      </a:endParaRPr>
                    </a:p>
                  </a:txBody>
                  <a:tcPr anchor="ctr">
                    <a:lnL w="9525" cap="flat" cmpd="sng" algn="ctr">
                      <a:solidFill>
                        <a:srgbClr val="C9D3DB"/>
                      </a:solidFill>
                      <a:prstDash val="solid"/>
                      <a:round/>
                      <a:headEnd type="none" w="med" len="med"/>
                      <a:tailEnd type="none" w="med" len="med"/>
                    </a:lnL>
                    <a:lnR w="9525" cap="flat" cmpd="sng" algn="ctr">
                      <a:solidFill>
                        <a:srgbClr val="C9D3DB"/>
                      </a:solidFill>
                      <a:prstDash val="solid"/>
                      <a:round/>
                      <a:headEnd type="none" w="med" len="med"/>
                      <a:tailEnd type="none" w="med" len="med"/>
                    </a:lnR>
                    <a:lnT w="9525" cap="flat" cmpd="sng" algn="ctr">
                      <a:solidFill>
                        <a:srgbClr val="C9D3DB"/>
                      </a:solidFill>
                      <a:prstDash val="solid"/>
                      <a:round/>
                      <a:headEnd type="none" w="med" len="med"/>
                      <a:tailEnd type="none" w="med" len="med"/>
                    </a:lnT>
                    <a:lnB w="9525" cap="flat" cmpd="sng" algn="ctr">
                      <a:solidFill>
                        <a:srgbClr val="C9D3DB"/>
                      </a:solidFill>
                      <a:prstDash val="solid"/>
                      <a:round/>
                      <a:headEnd type="none" w="med" len="med"/>
                      <a:tailEnd type="none" w="med" len="med"/>
                    </a:lnB>
                  </a:tcPr>
                </a:tc>
                <a:tc>
                  <a:txBody>
                    <a:bodyPr/>
                    <a:lstStyle/>
                    <a:p>
                      <a:pPr marL="0" indent="0">
                        <a:buNone/>
                      </a:pPr>
                      <a:r>
                        <a:rPr lang="en-US" sz="1300" dirty="0">
                          <a:solidFill>
                            <a:srgbClr val="1B2A38"/>
                          </a:solidFill>
                          <a:latin typeface="Calibri" pitchFamily="34" charset="0"/>
                          <a:ea typeface="Calibri" pitchFamily="34" charset="-122"/>
                          <a:cs typeface="Calibri" pitchFamily="34" charset="-120"/>
                        </a:rPr>
                        <a:t>0.934</a:t>
                      </a:r>
                      <a:endParaRPr lang="en-US" sz="1300" dirty="0">
                        <a:latin typeface="Calibri" charset="0"/>
                        <a:ea typeface="Calibri" charset="0"/>
                        <a:cs typeface="Calibri" charset="0"/>
                      </a:endParaRPr>
                    </a:p>
                  </a:txBody>
                  <a:tcPr anchor="ctr">
                    <a:lnL w="9525" cap="flat" cmpd="sng" algn="ctr">
                      <a:solidFill>
                        <a:srgbClr val="C9D3DB"/>
                      </a:solidFill>
                      <a:prstDash val="solid"/>
                      <a:round/>
                      <a:headEnd type="none" w="med" len="med"/>
                      <a:tailEnd type="none" w="med" len="med"/>
                    </a:lnL>
                    <a:lnR w="9525" cap="flat" cmpd="sng" algn="ctr">
                      <a:solidFill>
                        <a:srgbClr val="C9D3DB"/>
                      </a:solidFill>
                      <a:prstDash val="solid"/>
                      <a:round/>
                      <a:headEnd type="none" w="med" len="med"/>
                      <a:tailEnd type="none" w="med" len="med"/>
                    </a:lnR>
                    <a:lnT w="9525" cap="flat" cmpd="sng" algn="ctr">
                      <a:solidFill>
                        <a:srgbClr val="C9D3DB"/>
                      </a:solidFill>
                      <a:prstDash val="solid"/>
                      <a:round/>
                      <a:headEnd type="none" w="med" len="med"/>
                      <a:tailEnd type="none" w="med" len="med"/>
                    </a:lnT>
                    <a:lnB w="9525" cap="flat" cmpd="sng" algn="ctr">
                      <a:solidFill>
                        <a:srgbClr val="C9D3DB"/>
                      </a:solidFill>
                      <a:prstDash val="solid"/>
                      <a:round/>
                      <a:headEnd type="none" w="med" len="med"/>
                      <a:tailEnd type="none" w="med" len="med"/>
                    </a:lnB>
                  </a:tcPr>
                </a:tc>
                <a:extLst>
                  <a:ext uri="{0D108BD9-81ED-4DB2-BD59-A6C34878D82A}">
                    <a16:rowId xmlns:a16="http://schemas.microsoft.com/office/drawing/2014/main" val="10003"/>
                  </a:ext>
                </a:extLst>
              </a:tr>
              <a:tr h="438912">
                <a:tc>
                  <a:txBody>
                    <a:bodyPr/>
                    <a:lstStyle/>
                    <a:p>
                      <a:pPr marL="0" indent="0">
                        <a:buNone/>
                      </a:pPr>
                      <a:r>
                        <a:rPr lang="en-US" sz="1300" dirty="0">
                          <a:solidFill>
                            <a:srgbClr val="1B2A38"/>
                          </a:solidFill>
                          <a:latin typeface="Calibri" pitchFamily="34" charset="0"/>
                          <a:ea typeface="Calibri" pitchFamily="34" charset="-122"/>
                          <a:cs typeface="Calibri" pitchFamily="34" charset="-120"/>
                        </a:rPr>
                        <a:t>σ² (µm²)</a:t>
                      </a:r>
                      <a:endParaRPr lang="en-US" sz="1300" dirty="0">
                        <a:latin typeface="Calibri" charset="0"/>
                        <a:ea typeface="Calibri" charset="0"/>
                        <a:cs typeface="Calibri" charset="0"/>
                      </a:endParaRPr>
                    </a:p>
                  </a:txBody>
                  <a:tcPr anchor="ctr">
                    <a:lnL w="9525" cap="flat" cmpd="sng" algn="ctr">
                      <a:solidFill>
                        <a:srgbClr val="C9D3DB"/>
                      </a:solidFill>
                      <a:prstDash val="solid"/>
                      <a:round/>
                      <a:headEnd type="none" w="med" len="med"/>
                      <a:tailEnd type="none" w="med" len="med"/>
                    </a:lnL>
                    <a:lnR w="9525" cap="flat" cmpd="sng" algn="ctr">
                      <a:solidFill>
                        <a:srgbClr val="C9D3DB"/>
                      </a:solidFill>
                      <a:prstDash val="solid"/>
                      <a:round/>
                      <a:headEnd type="none" w="med" len="med"/>
                      <a:tailEnd type="none" w="med" len="med"/>
                    </a:lnR>
                    <a:lnT w="9525" cap="flat" cmpd="sng" algn="ctr">
                      <a:solidFill>
                        <a:srgbClr val="C9D3DB"/>
                      </a:solidFill>
                      <a:prstDash val="solid"/>
                      <a:round/>
                      <a:headEnd type="none" w="med" len="med"/>
                      <a:tailEnd type="none" w="med" len="med"/>
                    </a:lnT>
                    <a:lnB w="9525" cap="flat" cmpd="sng" algn="ctr">
                      <a:solidFill>
                        <a:srgbClr val="C9D3DB"/>
                      </a:solidFill>
                      <a:prstDash val="solid"/>
                      <a:round/>
                      <a:headEnd type="none" w="med" len="med"/>
                      <a:tailEnd type="none" w="med" len="med"/>
                    </a:lnB>
                  </a:tcPr>
                </a:tc>
                <a:tc>
                  <a:txBody>
                    <a:bodyPr/>
                    <a:lstStyle/>
                    <a:p>
                      <a:pPr marL="0" indent="0">
                        <a:buNone/>
                      </a:pPr>
                      <a:r>
                        <a:rPr lang="en-US" sz="1300" b="1" dirty="0">
                          <a:solidFill>
                            <a:srgbClr val="1B2A38"/>
                          </a:solidFill>
                          <a:latin typeface="Calibri" pitchFamily="34" charset="0"/>
                          <a:ea typeface="Calibri" pitchFamily="34" charset="-122"/>
                          <a:cs typeface="Calibri" pitchFamily="34" charset="-120"/>
                        </a:rPr>
                        <a:t>SVR</a:t>
                      </a:r>
                      <a:endParaRPr lang="en-US" sz="1300" dirty="0">
                        <a:latin typeface="Calibri" charset="0"/>
                        <a:ea typeface="Calibri" charset="0"/>
                        <a:cs typeface="Calibri" charset="0"/>
                      </a:endParaRPr>
                    </a:p>
                  </a:txBody>
                  <a:tcPr anchor="ctr">
                    <a:lnL w="9525" cap="flat" cmpd="sng" algn="ctr">
                      <a:solidFill>
                        <a:srgbClr val="C9D3DB"/>
                      </a:solidFill>
                      <a:prstDash val="solid"/>
                      <a:round/>
                      <a:headEnd type="none" w="med" len="med"/>
                      <a:tailEnd type="none" w="med" len="med"/>
                    </a:lnL>
                    <a:lnR w="9525" cap="flat" cmpd="sng" algn="ctr">
                      <a:solidFill>
                        <a:srgbClr val="C9D3DB"/>
                      </a:solidFill>
                      <a:prstDash val="solid"/>
                      <a:round/>
                      <a:headEnd type="none" w="med" len="med"/>
                      <a:tailEnd type="none" w="med" len="med"/>
                    </a:lnR>
                    <a:lnT w="9525" cap="flat" cmpd="sng" algn="ctr">
                      <a:solidFill>
                        <a:srgbClr val="C9D3DB"/>
                      </a:solidFill>
                      <a:prstDash val="solid"/>
                      <a:round/>
                      <a:headEnd type="none" w="med" len="med"/>
                      <a:tailEnd type="none" w="med" len="med"/>
                    </a:lnT>
                    <a:lnB w="9525" cap="flat" cmpd="sng" algn="ctr">
                      <a:solidFill>
                        <a:srgbClr val="C9D3DB"/>
                      </a:solidFill>
                      <a:prstDash val="solid"/>
                      <a:round/>
                      <a:headEnd type="none" w="med" len="med"/>
                      <a:tailEnd type="none" w="med" len="med"/>
                    </a:lnB>
                  </a:tcPr>
                </a:tc>
                <a:tc>
                  <a:txBody>
                    <a:bodyPr/>
                    <a:lstStyle/>
                    <a:p>
                      <a:pPr marL="0" indent="0">
                        <a:buNone/>
                      </a:pPr>
                      <a:r>
                        <a:rPr lang="en-US" sz="1300" b="1" dirty="0">
                          <a:solidFill>
                            <a:srgbClr val="1B2A38"/>
                          </a:solidFill>
                          <a:latin typeface="Calibri" pitchFamily="34" charset="0"/>
                          <a:ea typeface="Calibri" pitchFamily="34" charset="-122"/>
                          <a:cs typeface="Calibri" pitchFamily="34" charset="-120"/>
                        </a:rPr>
                        <a:t>7.11</a:t>
                      </a:r>
                      <a:endParaRPr lang="en-US" sz="1300" dirty="0">
                        <a:latin typeface="Calibri" charset="0"/>
                        <a:ea typeface="Calibri" charset="0"/>
                        <a:cs typeface="Calibri" charset="0"/>
                      </a:endParaRPr>
                    </a:p>
                  </a:txBody>
                  <a:tcPr anchor="ctr">
                    <a:lnL w="9525" cap="flat" cmpd="sng" algn="ctr">
                      <a:solidFill>
                        <a:srgbClr val="C9D3DB"/>
                      </a:solidFill>
                      <a:prstDash val="solid"/>
                      <a:round/>
                      <a:headEnd type="none" w="med" len="med"/>
                      <a:tailEnd type="none" w="med" len="med"/>
                    </a:lnL>
                    <a:lnR w="9525" cap="flat" cmpd="sng" algn="ctr">
                      <a:solidFill>
                        <a:srgbClr val="C9D3DB"/>
                      </a:solidFill>
                      <a:prstDash val="solid"/>
                      <a:round/>
                      <a:headEnd type="none" w="med" len="med"/>
                      <a:tailEnd type="none" w="med" len="med"/>
                    </a:lnR>
                    <a:lnT w="9525" cap="flat" cmpd="sng" algn="ctr">
                      <a:solidFill>
                        <a:srgbClr val="C9D3DB"/>
                      </a:solidFill>
                      <a:prstDash val="solid"/>
                      <a:round/>
                      <a:headEnd type="none" w="med" len="med"/>
                      <a:tailEnd type="none" w="med" len="med"/>
                    </a:lnT>
                    <a:lnB w="9525" cap="flat" cmpd="sng" algn="ctr">
                      <a:solidFill>
                        <a:srgbClr val="C9D3DB"/>
                      </a:solidFill>
                      <a:prstDash val="solid"/>
                      <a:round/>
                      <a:headEnd type="none" w="med" len="med"/>
                      <a:tailEnd type="none" w="med" len="med"/>
                    </a:lnB>
                  </a:tcPr>
                </a:tc>
                <a:tc>
                  <a:txBody>
                    <a:bodyPr/>
                    <a:lstStyle/>
                    <a:p>
                      <a:pPr marL="0" indent="0">
                        <a:buNone/>
                      </a:pPr>
                      <a:r>
                        <a:rPr lang="en-US" sz="1300" b="1" dirty="0">
                          <a:solidFill>
                            <a:srgbClr val="1B2A38"/>
                          </a:solidFill>
                          <a:latin typeface="Calibri" pitchFamily="34" charset="0"/>
                          <a:ea typeface="Calibri" pitchFamily="34" charset="-122"/>
                          <a:cs typeface="Calibri" pitchFamily="34" charset="-120"/>
                        </a:rPr>
                        <a:t>8.86</a:t>
                      </a:r>
                      <a:endParaRPr lang="en-US" sz="1300" dirty="0">
                        <a:latin typeface="Calibri" charset="0"/>
                        <a:ea typeface="Calibri" charset="0"/>
                        <a:cs typeface="Calibri" charset="0"/>
                      </a:endParaRPr>
                    </a:p>
                  </a:txBody>
                  <a:tcPr anchor="ctr">
                    <a:lnL w="9525" cap="flat" cmpd="sng" algn="ctr">
                      <a:solidFill>
                        <a:srgbClr val="C9D3DB"/>
                      </a:solidFill>
                      <a:prstDash val="solid"/>
                      <a:round/>
                      <a:headEnd type="none" w="med" len="med"/>
                      <a:tailEnd type="none" w="med" len="med"/>
                    </a:lnL>
                    <a:lnR w="9525" cap="flat" cmpd="sng" algn="ctr">
                      <a:solidFill>
                        <a:srgbClr val="C9D3DB"/>
                      </a:solidFill>
                      <a:prstDash val="solid"/>
                      <a:round/>
                      <a:headEnd type="none" w="med" len="med"/>
                      <a:tailEnd type="none" w="med" len="med"/>
                    </a:lnR>
                    <a:lnT w="9525" cap="flat" cmpd="sng" algn="ctr">
                      <a:solidFill>
                        <a:srgbClr val="C9D3DB"/>
                      </a:solidFill>
                      <a:prstDash val="solid"/>
                      <a:round/>
                      <a:headEnd type="none" w="med" len="med"/>
                      <a:tailEnd type="none" w="med" len="med"/>
                    </a:lnT>
                    <a:lnB w="9525" cap="flat" cmpd="sng" algn="ctr">
                      <a:solidFill>
                        <a:srgbClr val="C9D3DB"/>
                      </a:solidFill>
                      <a:prstDash val="solid"/>
                      <a:round/>
                      <a:headEnd type="none" w="med" len="med"/>
                      <a:tailEnd type="none" w="med" len="med"/>
                    </a:lnB>
                  </a:tcPr>
                </a:tc>
                <a:tc>
                  <a:txBody>
                    <a:bodyPr/>
                    <a:lstStyle/>
                    <a:p>
                      <a:pPr marL="0" indent="0">
                        <a:buNone/>
                      </a:pPr>
                      <a:r>
                        <a:rPr lang="en-US" sz="1300" b="1" dirty="0">
                          <a:solidFill>
                            <a:srgbClr val="1B2A38"/>
                          </a:solidFill>
                          <a:latin typeface="Calibri" pitchFamily="34" charset="0"/>
                          <a:ea typeface="Calibri" pitchFamily="34" charset="-122"/>
                          <a:cs typeface="Calibri" pitchFamily="34" charset="-120"/>
                        </a:rPr>
                        <a:t>0.946</a:t>
                      </a:r>
                      <a:endParaRPr lang="en-US" sz="1300" dirty="0">
                        <a:latin typeface="Calibri" charset="0"/>
                        <a:ea typeface="Calibri" charset="0"/>
                        <a:cs typeface="Calibri" charset="0"/>
                      </a:endParaRPr>
                    </a:p>
                  </a:txBody>
                  <a:tcPr anchor="ctr">
                    <a:lnL w="9525" cap="flat" cmpd="sng" algn="ctr">
                      <a:solidFill>
                        <a:srgbClr val="C9D3DB"/>
                      </a:solidFill>
                      <a:prstDash val="solid"/>
                      <a:round/>
                      <a:headEnd type="none" w="med" len="med"/>
                      <a:tailEnd type="none" w="med" len="med"/>
                    </a:lnL>
                    <a:lnR w="9525" cap="flat" cmpd="sng" algn="ctr">
                      <a:solidFill>
                        <a:srgbClr val="C9D3DB"/>
                      </a:solidFill>
                      <a:prstDash val="solid"/>
                      <a:round/>
                      <a:headEnd type="none" w="med" len="med"/>
                      <a:tailEnd type="none" w="med" len="med"/>
                    </a:lnR>
                    <a:lnT w="9525" cap="flat" cmpd="sng" algn="ctr">
                      <a:solidFill>
                        <a:srgbClr val="C9D3DB"/>
                      </a:solidFill>
                      <a:prstDash val="solid"/>
                      <a:round/>
                      <a:headEnd type="none" w="med" len="med"/>
                      <a:tailEnd type="none" w="med" len="med"/>
                    </a:lnT>
                    <a:lnB w="9525" cap="flat" cmpd="sng" algn="ctr">
                      <a:solidFill>
                        <a:srgbClr val="C9D3D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1"/>
          <p:cNvSpPr txBox="1"/>
          <p:nvPr/>
        </p:nvSpPr>
        <p:spPr>
          <a:xfrm>
            <a:off x="6949440" y="4114800"/>
            <a:ext cx="4663440" cy="1280160"/>
          </a:xfrm>
          <a:prstGeom prst="rect">
            <a:avLst/>
          </a:prstGeom>
          <a:noFill/>
          <a:ln/>
        </p:spPr>
        <p:txBody>
          <a:bodyPr wrap="square" lIns="0" tIns="0" rIns="0" bIns="0" rtlCol="0" anchor="t"/>
          <a:lstStyle/>
          <a:p>
            <a:pPr marL="0" indent="0">
              <a:buNone/>
            </a:pPr>
            <a:r>
              <a:rPr lang="en-US" sz="1400" b="1" dirty="0">
                <a:solidFill>
                  <a:schemeClr val="tx1"/>
                </a:solidFill>
              </a:rPr>
              <a:t>Held-out test set, 1000 samples. </a:t>
            </a:r>
            <a:r>
              <a:rPr lang="en-US" sz="1400" dirty="0">
                <a:solidFill>
                  <a:schemeClr val="tx1"/>
                </a:solidFill>
              </a:rPr>
              <a:t>5-fold CV on all data agrees with the test scores (spread ≤ 0.005). Using all 8 features instead of 4 gives RF test R² of 0.914 and 0.939.</a:t>
            </a:r>
            <a:endParaRPr lang="en-US" sz="1400" dirty="0"/>
          </a:p>
        </p:txBody>
      </p:sp>
      <p:sp>
        <p:nvSpPr>
          <p:cNvPr id="25" name="Slide Number Placeholder 0"/>
          <p:cNvSpPr>
            <a:spLocks noGrp="1"/>
          </p:cNvSpPr>
          <p:nvPr>
            <p:ph type="sldNum" sz="quarter" idx="4294967295"/>
          </p:nvPr>
        </p:nvSpPr>
        <p:spPr>
          <a:xfrm>
            <a:off x="11045952"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94360" y="411480"/>
            <a:ext cx="11000232" cy="868680"/>
          </a:xfrm>
          <a:prstGeom prst="rect">
            <a:avLst/>
          </a:prstGeom>
          <a:noFill/>
          <a:ln/>
        </p:spPr>
        <p:txBody>
          <a:bodyPr wrap="square" lIns="0" tIns="0" rIns="0" bIns="0" rtlCol="0" anchor="ctr"/>
          <a:lstStyle/>
          <a:p>
            <a:pPr marL="0" indent="0" algn="l">
              <a:buNone/>
            </a:pPr>
            <a:r>
              <a:rPr lang="en-US" sz="3200" b="1" dirty="0">
                <a:solidFill>
                  <a:schemeClr val="tx1"/>
                </a:solidFill>
              </a:rPr>
              <a:t>Predictions track the true values</a:t>
            </a:r>
            <a:endParaRPr lang="en-US" sz="3200" dirty="0"/>
          </a:p>
        </p:txBody>
      </p:sp>
      <p:pic>
        <p:nvPicPr>
          <p:cNvPr id="3" name="Image 0" descr="Predicted vs true d50 and variance for RF and SVR"/>
          <p:cNvPicPr>
            <a:picLocks noChangeAspect="1"/>
          </p:cNvPicPr>
          <p:nvPr/>
        </p:nvPicPr>
        <p:blipFill>
          <a:blip r:embed="rId3"/>
          <a:stretch>
            <a:fillRect/>
          </a:stretch>
        </p:blipFill>
        <p:spPr>
          <a:xfrm>
            <a:off x="1280160" y="1417320"/>
            <a:ext cx="9601200" cy="2400300"/>
          </a:xfrm>
          <a:prstGeom prst="rect">
            <a:avLst/>
          </a:prstGeom>
        </p:spPr>
      </p:pic>
      <p:sp>
        <p:nvSpPr>
          <p:cNvPr id="4" name="Text 1"/>
          <p:cNvSpPr txBox="1"/>
          <p:nvPr/>
        </p:nvSpPr>
        <p:spPr>
          <a:xfrm>
            <a:off x="594360" y="4343400"/>
            <a:ext cx="5303520" cy="320040"/>
          </a:xfrm>
          <a:prstGeom prst="rect">
            <a:avLst/>
          </a:prstGeom>
          <a:noFill/>
          <a:ln/>
        </p:spPr>
        <p:txBody>
          <a:bodyPr wrap="square" lIns="0" tIns="0" rIns="0" bIns="0" rtlCol="0" anchor="t"/>
          <a:lstStyle/>
          <a:p>
            <a:pPr marL="0" indent="0">
              <a:buNone/>
            </a:pPr>
            <a:r>
              <a:rPr lang="en-US" sz="1800" b="1" dirty="0">
                <a:solidFill>
                  <a:schemeClr val="accent1"/>
                </a:solidFill>
              </a:rPr>
              <a:t>Close to the 1:1 line</a:t>
            </a:r>
            <a:endParaRPr lang="en-US" sz="1800" dirty="0"/>
          </a:p>
        </p:txBody>
      </p:sp>
      <p:sp>
        <p:nvSpPr>
          <p:cNvPr id="5" name="Text 2"/>
          <p:cNvSpPr txBox="1"/>
          <p:nvPr/>
        </p:nvSpPr>
        <p:spPr>
          <a:xfrm>
            <a:off x="594360" y="4709160"/>
            <a:ext cx="5303520" cy="1097280"/>
          </a:xfrm>
          <a:prstGeom prst="rect">
            <a:avLst/>
          </a:prstGeom>
          <a:noFill/>
          <a:ln/>
        </p:spPr>
        <p:txBody>
          <a:bodyPr wrap="square" lIns="0" tIns="0" rIns="0" bIns="0" rtlCol="0" anchor="t"/>
          <a:lstStyle/>
          <a:p>
            <a:pPr marL="0" indent="0">
              <a:buNone/>
            </a:pPr>
            <a:r>
              <a:rPr lang="en-US" sz="1500" dirty="0">
                <a:solidFill>
                  <a:schemeClr val="tx1"/>
                </a:solidFill>
              </a:rPr>
              <a:t>Typical error is about 10 µm on d50 (6 % of its mean) and 7 µm² on σ² (5 %).</a:t>
            </a:r>
            <a:endParaRPr lang="en-US" sz="1500" dirty="0"/>
          </a:p>
        </p:txBody>
      </p:sp>
      <p:sp>
        <p:nvSpPr>
          <p:cNvPr id="6" name="Text 3"/>
          <p:cNvSpPr txBox="1"/>
          <p:nvPr/>
        </p:nvSpPr>
        <p:spPr>
          <a:xfrm>
            <a:off x="6263640" y="4343400"/>
            <a:ext cx="5303520" cy="320040"/>
          </a:xfrm>
          <a:prstGeom prst="rect">
            <a:avLst/>
          </a:prstGeom>
          <a:noFill/>
          <a:ln/>
        </p:spPr>
        <p:txBody>
          <a:bodyPr wrap="square" lIns="0" tIns="0" rIns="0" bIns="0" rtlCol="0" anchor="t"/>
          <a:lstStyle/>
          <a:p>
            <a:pPr marL="0" indent="0">
              <a:buNone/>
            </a:pPr>
            <a:r>
              <a:rPr lang="en-US" sz="1800" b="1" dirty="0">
                <a:solidFill>
                  <a:schemeClr val="accent1"/>
                </a:solidFill>
              </a:rPr>
              <a:t>Where RF struggles</a:t>
            </a:r>
            <a:endParaRPr lang="en-US" sz="1800" dirty="0"/>
          </a:p>
        </p:txBody>
      </p:sp>
      <p:sp>
        <p:nvSpPr>
          <p:cNvPr id="7" name="Text 4"/>
          <p:cNvSpPr txBox="1"/>
          <p:nvPr/>
        </p:nvSpPr>
        <p:spPr>
          <a:xfrm>
            <a:off x="6263640" y="4709160"/>
            <a:ext cx="5303520" cy="1097280"/>
          </a:xfrm>
          <a:prstGeom prst="rect">
            <a:avLst/>
          </a:prstGeom>
          <a:noFill/>
          <a:ln/>
        </p:spPr>
        <p:txBody>
          <a:bodyPr wrap="square" lIns="0" tIns="0" rIns="0" bIns="0" rtlCol="0" anchor="t"/>
          <a:lstStyle/>
          <a:p>
            <a:pPr marL="0" indent="0">
              <a:buNone/>
            </a:pPr>
            <a:r>
              <a:rPr lang="en-US" sz="1500" dirty="0">
                <a:solidFill>
                  <a:schemeClr val="tx1"/>
                </a:solidFill>
              </a:rPr>
              <a:t>Random Forest flattens at the extremes because trees cannot extrapolate beyond the training range.</a:t>
            </a:r>
            <a:endParaRPr lang="en-US" sz="1500" dirty="0"/>
          </a:p>
        </p:txBody>
      </p:sp>
      <p:sp>
        <p:nvSpPr>
          <p:cNvPr id="25" name="Slide Number Placeholder 0"/>
          <p:cNvSpPr>
            <a:spLocks noGrp="1"/>
          </p:cNvSpPr>
          <p:nvPr>
            <p:ph type="sldNum" sz="quarter" idx="4294967295"/>
          </p:nvPr>
        </p:nvSpPr>
        <p:spPr>
          <a:xfrm>
            <a:off x="11045952"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94360" y="411480"/>
            <a:ext cx="11000232" cy="868680"/>
          </a:xfrm>
          <a:prstGeom prst="rect">
            <a:avLst/>
          </a:prstGeom>
          <a:noFill/>
          <a:ln/>
        </p:spPr>
        <p:txBody>
          <a:bodyPr wrap="square" lIns="0" tIns="0" rIns="0" bIns="0" rtlCol="0" anchor="ctr"/>
          <a:lstStyle/>
          <a:p>
            <a:pPr marL="0" indent="0" algn="l">
              <a:buNone/>
            </a:pPr>
            <a:r>
              <a:rPr lang="en-US" sz="3200" b="1" dirty="0">
                <a:solidFill>
                  <a:schemeClr val="tx1"/>
                </a:solidFill>
              </a:rPr>
              <a:t>What the results tell us</a:t>
            </a:r>
            <a:endParaRPr lang="en-US" sz="3200" dirty="0"/>
          </a:p>
        </p:txBody>
      </p:sp>
      <p:sp>
        <p:nvSpPr>
          <p:cNvPr id="3" name="Takeaway 1"/>
          <p:cNvSpPr/>
          <p:nvPr/>
        </p:nvSpPr>
        <p:spPr>
          <a:xfrm>
            <a:off x="594360" y="1554480"/>
            <a:ext cx="5303520" cy="2011680"/>
          </a:xfrm>
          <a:prstGeom prst="roundRect">
            <a:avLst>
              <a:gd name="adj" fmla="val 3636"/>
            </a:avLst>
          </a:prstGeom>
          <a:solidFill>
            <a:schemeClr val="bg2"/>
          </a:solidFill>
          <a:ln w="12700">
            <a:solidFill>
              <a:schemeClr val="bg2"/>
            </a:solidFill>
            <a:prstDash val="solid"/>
          </a:ln>
        </p:spPr>
      </p:sp>
      <p:sp>
        <p:nvSpPr>
          <p:cNvPr id="4" name="Text 2"/>
          <p:cNvSpPr txBox="1"/>
          <p:nvPr/>
        </p:nvSpPr>
        <p:spPr>
          <a:xfrm>
            <a:off x="868680" y="1783080"/>
            <a:ext cx="4754880" cy="365760"/>
          </a:xfrm>
          <a:prstGeom prst="rect">
            <a:avLst/>
          </a:prstGeom>
          <a:noFill/>
          <a:ln/>
        </p:spPr>
        <p:txBody>
          <a:bodyPr wrap="square" lIns="0" tIns="0" rIns="0" bIns="0" rtlCol="0" anchor="t"/>
          <a:lstStyle/>
          <a:p>
            <a:pPr marL="0" indent="0">
              <a:buNone/>
            </a:pPr>
            <a:r>
              <a:rPr lang="en-US" sz="2000" b="1" dirty="0">
                <a:solidFill>
                  <a:schemeClr val="accent1"/>
                </a:solidFill>
              </a:rPr>
              <a:t>Near the ceiling</a:t>
            </a:r>
            <a:endParaRPr lang="en-US" sz="2000" dirty="0"/>
          </a:p>
        </p:txBody>
      </p:sp>
      <p:sp>
        <p:nvSpPr>
          <p:cNvPr id="5" name="Text 3"/>
          <p:cNvSpPr txBox="1"/>
          <p:nvPr/>
        </p:nvSpPr>
        <p:spPr>
          <a:xfrm>
            <a:off x="868680" y="2240280"/>
            <a:ext cx="4754880" cy="1188720"/>
          </a:xfrm>
          <a:prstGeom prst="rect">
            <a:avLst/>
          </a:prstGeom>
          <a:noFill/>
          <a:ln/>
        </p:spPr>
        <p:txBody>
          <a:bodyPr wrap="square" lIns="0" tIns="0" rIns="0" bIns="0" rtlCol="0" anchor="t"/>
          <a:lstStyle/>
          <a:p>
            <a:pPr marL="0" indent="0">
              <a:buNone/>
            </a:pPr>
            <a:r>
              <a:rPr lang="en-US" sz="1500" dirty="0">
                <a:solidFill>
                  <a:schemeClr val="tx1"/>
                </a:solidFill>
              </a:rPr>
              <a:t>SVR is within about 0.01 R² of the best possible score and RF within about 0.02, so both learned most of the structure; the rest is injected noise.</a:t>
            </a:r>
            <a:endParaRPr lang="en-US" sz="1500" dirty="0"/>
          </a:p>
        </p:txBody>
      </p:sp>
      <p:sp>
        <p:nvSpPr>
          <p:cNvPr id="6" name="Takeaway 2"/>
          <p:cNvSpPr/>
          <p:nvPr/>
        </p:nvSpPr>
        <p:spPr>
          <a:xfrm>
            <a:off x="6263640" y="1554480"/>
            <a:ext cx="5303520" cy="2011680"/>
          </a:xfrm>
          <a:prstGeom prst="roundRect">
            <a:avLst>
              <a:gd name="adj" fmla="val 3636"/>
            </a:avLst>
          </a:prstGeom>
          <a:solidFill>
            <a:schemeClr val="bg2"/>
          </a:solidFill>
          <a:ln w="12700">
            <a:solidFill>
              <a:schemeClr val="bg2"/>
            </a:solidFill>
            <a:prstDash val="solid"/>
          </a:ln>
        </p:spPr>
      </p:sp>
      <p:sp>
        <p:nvSpPr>
          <p:cNvPr id="7" name="Text 5"/>
          <p:cNvSpPr txBox="1"/>
          <p:nvPr/>
        </p:nvSpPr>
        <p:spPr>
          <a:xfrm>
            <a:off x="6537960" y="1783080"/>
            <a:ext cx="4754880" cy="365760"/>
          </a:xfrm>
          <a:prstGeom prst="rect">
            <a:avLst/>
          </a:prstGeom>
          <a:noFill/>
          <a:ln/>
        </p:spPr>
        <p:txBody>
          <a:bodyPr wrap="square" lIns="0" tIns="0" rIns="0" bIns="0" rtlCol="0" anchor="t"/>
          <a:lstStyle/>
          <a:p>
            <a:pPr marL="0" indent="0">
              <a:buNone/>
            </a:pPr>
            <a:r>
              <a:rPr lang="en-US" sz="2000" b="1" dirty="0">
                <a:solidFill>
                  <a:schemeClr val="accent1"/>
                </a:solidFill>
              </a:rPr>
              <a:t>SVR suits smooth targets</a:t>
            </a:r>
            <a:endParaRPr lang="en-US" sz="2000" dirty="0"/>
          </a:p>
        </p:txBody>
      </p:sp>
      <p:sp>
        <p:nvSpPr>
          <p:cNvPr id="8" name="Text 6"/>
          <p:cNvSpPr txBox="1"/>
          <p:nvPr/>
        </p:nvSpPr>
        <p:spPr>
          <a:xfrm>
            <a:off x="6537960" y="2240280"/>
            <a:ext cx="4754880" cy="1188720"/>
          </a:xfrm>
          <a:prstGeom prst="rect">
            <a:avLst/>
          </a:prstGeom>
          <a:noFill/>
          <a:ln/>
        </p:spPr>
        <p:txBody>
          <a:bodyPr wrap="square" lIns="0" tIns="0" rIns="0" bIns="0" rtlCol="0" anchor="t"/>
          <a:lstStyle/>
          <a:p>
            <a:pPr marL="0" indent="0">
              <a:buNone/>
            </a:pPr>
            <a:r>
              <a:rPr lang="en-US" sz="1500" dirty="0">
                <a:solidFill>
                  <a:schemeClr val="tx1"/>
                </a:solidFill>
              </a:rPr>
              <a:t>An RBF kernel fits smooth surfaces more naturally than piecewise-constant trees, hence the small, consistent edge.</a:t>
            </a:r>
            <a:endParaRPr lang="en-US" sz="1500" dirty="0"/>
          </a:p>
        </p:txBody>
      </p:sp>
      <p:sp>
        <p:nvSpPr>
          <p:cNvPr id="9" name="Takeaway 3"/>
          <p:cNvSpPr/>
          <p:nvPr/>
        </p:nvSpPr>
        <p:spPr>
          <a:xfrm>
            <a:off x="594360" y="3840480"/>
            <a:ext cx="5303520" cy="2011680"/>
          </a:xfrm>
          <a:prstGeom prst="roundRect">
            <a:avLst>
              <a:gd name="adj" fmla="val 3636"/>
            </a:avLst>
          </a:prstGeom>
          <a:solidFill>
            <a:schemeClr val="bg2"/>
          </a:solidFill>
          <a:ln w="12700">
            <a:solidFill>
              <a:schemeClr val="bg2"/>
            </a:solidFill>
            <a:prstDash val="solid"/>
          </a:ln>
        </p:spPr>
      </p:sp>
      <p:sp>
        <p:nvSpPr>
          <p:cNvPr id="10" name="Text 8"/>
          <p:cNvSpPr txBox="1"/>
          <p:nvPr/>
        </p:nvSpPr>
        <p:spPr>
          <a:xfrm>
            <a:off x="868680" y="4069080"/>
            <a:ext cx="4754880" cy="365760"/>
          </a:xfrm>
          <a:prstGeom prst="rect">
            <a:avLst/>
          </a:prstGeom>
          <a:noFill/>
          <a:ln/>
        </p:spPr>
        <p:txBody>
          <a:bodyPr wrap="square" lIns="0" tIns="0" rIns="0" bIns="0" rtlCol="0" anchor="t"/>
          <a:lstStyle/>
          <a:p>
            <a:pPr marL="0" indent="0">
              <a:buNone/>
            </a:pPr>
            <a:r>
              <a:rPr lang="en-US" sz="2000" b="1" dirty="0">
                <a:solidFill>
                  <a:schemeClr val="accent1"/>
                </a:solidFill>
              </a:rPr>
              <a:t>Four sensors are enough</a:t>
            </a:r>
            <a:endParaRPr lang="en-US" sz="2000" dirty="0"/>
          </a:p>
        </p:txBody>
      </p:sp>
      <p:sp>
        <p:nvSpPr>
          <p:cNvPr id="11" name="Text 9"/>
          <p:cNvSpPr txBox="1"/>
          <p:nvPr/>
        </p:nvSpPr>
        <p:spPr>
          <a:xfrm>
            <a:off x="868680" y="4526280"/>
            <a:ext cx="4754880" cy="1188720"/>
          </a:xfrm>
          <a:prstGeom prst="rect">
            <a:avLst/>
          </a:prstGeom>
          <a:noFill/>
          <a:ln/>
        </p:spPr>
        <p:txBody>
          <a:bodyPr wrap="square" lIns="0" tIns="0" rIns="0" bIns="0" rtlCol="0" anchor="t"/>
          <a:lstStyle/>
          <a:p>
            <a:pPr marL="0" indent="0">
              <a:buNone/>
            </a:pPr>
            <a:r>
              <a:rPr lang="en-US" sz="1500" dirty="0">
                <a:solidFill>
                  <a:schemeClr val="tx1"/>
                </a:solidFill>
              </a:rPr>
              <a:t>Dropping four uninformative features costs almost nothing, which is the practical point for field campaigns.</a:t>
            </a:r>
            <a:endParaRPr lang="en-US" sz="1500" dirty="0"/>
          </a:p>
        </p:txBody>
      </p:sp>
      <p:sp>
        <p:nvSpPr>
          <p:cNvPr id="12" name="Takeaway 4"/>
          <p:cNvSpPr/>
          <p:nvPr/>
        </p:nvSpPr>
        <p:spPr>
          <a:xfrm>
            <a:off x="6263640" y="3840480"/>
            <a:ext cx="5303520" cy="2011680"/>
          </a:xfrm>
          <a:prstGeom prst="roundRect">
            <a:avLst>
              <a:gd name="adj" fmla="val 3636"/>
            </a:avLst>
          </a:prstGeom>
          <a:solidFill>
            <a:schemeClr val="bg2"/>
          </a:solidFill>
          <a:ln w="12700">
            <a:solidFill>
              <a:schemeClr val="bg2"/>
            </a:solidFill>
            <a:prstDash val="solid"/>
          </a:ln>
        </p:spPr>
      </p:sp>
      <p:sp>
        <p:nvSpPr>
          <p:cNvPr id="13" name="Text 11"/>
          <p:cNvSpPr txBox="1"/>
          <p:nvPr/>
        </p:nvSpPr>
        <p:spPr>
          <a:xfrm>
            <a:off x="6537960" y="4069080"/>
            <a:ext cx="4754880" cy="365760"/>
          </a:xfrm>
          <a:prstGeom prst="rect">
            <a:avLst/>
          </a:prstGeom>
          <a:noFill/>
          <a:ln/>
        </p:spPr>
        <p:txBody>
          <a:bodyPr wrap="square" lIns="0" tIns="0" rIns="0" bIns="0" rtlCol="0" anchor="t"/>
          <a:lstStyle/>
          <a:p>
            <a:pPr marL="0" indent="0">
              <a:buNone/>
            </a:pPr>
            <a:r>
              <a:rPr lang="en-US" sz="2000" b="1" dirty="0">
                <a:solidFill>
                  <a:schemeClr val="accent1"/>
                </a:solidFill>
              </a:rPr>
              <a:t>Not comparable to the paper</a:t>
            </a:r>
            <a:endParaRPr lang="en-US" sz="2000" dirty="0"/>
          </a:p>
        </p:txBody>
      </p:sp>
      <p:sp>
        <p:nvSpPr>
          <p:cNvPr id="14" name="Text 12"/>
          <p:cNvSpPr txBox="1"/>
          <p:nvPr/>
        </p:nvSpPr>
        <p:spPr>
          <a:xfrm>
            <a:off x="6537960" y="4526280"/>
            <a:ext cx="4754880" cy="1188720"/>
          </a:xfrm>
          <a:prstGeom prst="rect">
            <a:avLst/>
          </a:prstGeom>
          <a:noFill/>
          <a:ln/>
        </p:spPr>
        <p:txBody>
          <a:bodyPr wrap="square" lIns="0" tIns="0" rIns="0" bIns="0" rtlCol="0" anchor="t"/>
          <a:lstStyle/>
          <a:p>
            <a:pPr marL="0" indent="0">
              <a:buNone/>
            </a:pPr>
            <a:r>
              <a:rPr lang="en-US" sz="1500" dirty="0">
                <a:solidFill>
                  <a:schemeClr val="tx1"/>
                </a:solidFill>
              </a:rPr>
              <a:t>Egan reports 0.81 and 0.75 (RF) on real data. Ours are higher because our noise is low and the relationship is known.</a:t>
            </a:r>
            <a:endParaRPr lang="en-US" sz="1500" dirty="0"/>
          </a:p>
        </p:txBody>
      </p:sp>
      <p:sp>
        <p:nvSpPr>
          <p:cNvPr id="25" name="Slide Number Placeholder 0"/>
          <p:cNvSpPr>
            <a:spLocks noGrp="1"/>
          </p:cNvSpPr>
          <p:nvPr>
            <p:ph type="sldNum" sz="quarter" idx="4294967295"/>
          </p:nvPr>
        </p:nvSpPr>
        <p:spPr>
          <a:xfrm>
            <a:off x="11045952"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94360" y="411480"/>
            <a:ext cx="11000232" cy="868680"/>
          </a:xfrm>
          <a:prstGeom prst="rect">
            <a:avLst/>
          </a:prstGeom>
          <a:noFill/>
          <a:ln/>
        </p:spPr>
        <p:txBody>
          <a:bodyPr wrap="square" lIns="0" tIns="0" rIns="0" bIns="0" rtlCol="0" anchor="ctr"/>
          <a:lstStyle/>
          <a:p>
            <a:pPr marL="0" indent="0" algn="l">
              <a:buNone/>
            </a:pPr>
            <a:r>
              <a:rPr lang="en-US" sz="3200" b="1" dirty="0">
                <a:solidFill>
                  <a:schemeClr val="tx1"/>
                </a:solidFill>
              </a:rPr>
              <a:t>Limitations and next steps</a:t>
            </a:r>
            <a:endParaRPr lang="en-US" sz="3200" dirty="0"/>
          </a:p>
        </p:txBody>
      </p:sp>
      <p:sp>
        <p:nvSpPr>
          <p:cNvPr id="3" name="Text 1"/>
          <p:cNvSpPr txBox="1"/>
          <p:nvPr/>
        </p:nvSpPr>
        <p:spPr>
          <a:xfrm>
            <a:off x="594360" y="1554480"/>
            <a:ext cx="5303520" cy="411480"/>
          </a:xfrm>
          <a:prstGeom prst="rect">
            <a:avLst/>
          </a:prstGeom>
          <a:noFill/>
          <a:ln/>
        </p:spPr>
        <p:txBody>
          <a:bodyPr wrap="square" lIns="0" tIns="0" rIns="0" bIns="0" rtlCol="0" anchor="t"/>
          <a:lstStyle/>
          <a:p>
            <a:pPr marL="0" indent="0">
              <a:buNone/>
            </a:pPr>
            <a:r>
              <a:rPr lang="en-US" sz="2200" b="1" dirty="0">
                <a:solidFill>
                  <a:schemeClr val="accent2"/>
                </a:solidFill>
                <a:latin typeface="Cambria" pitchFamily="34" charset="0"/>
                <a:ea typeface="Cambria" pitchFamily="34" charset="-122"/>
                <a:cs typeface="Cambria" pitchFamily="34" charset="-120"/>
              </a:rPr>
              <a:t>Limitations</a:t>
            </a:r>
            <a:endParaRPr lang="en-US" sz="2200" dirty="0"/>
          </a:p>
        </p:txBody>
      </p:sp>
      <p:sp>
        <p:nvSpPr>
          <p:cNvPr id="4" name="Text 2"/>
          <p:cNvSpPr txBox="1"/>
          <p:nvPr/>
        </p:nvSpPr>
        <p:spPr>
          <a:xfrm>
            <a:off x="594360" y="2148840"/>
            <a:ext cx="5303520" cy="384048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chemeClr val="tx1"/>
                </a:solidFill>
              </a:rPr>
              <a:t>The data is synthetic, so scores show the pipeline works, not that it predicts real flocculation.</a:t>
            </a:r>
            <a:endParaRPr lang="en-US" sz="1800" dirty="0"/>
          </a:p>
          <a:p>
            <a:pPr marL="342900" indent="-342900">
              <a:spcAft>
                <a:spcPts val="1400"/>
              </a:spcAft>
              <a:buSzPct val="100000"/>
              <a:buChar char="•"/>
            </a:pPr>
            <a:r>
              <a:rPr lang="en-US" sz="1800" dirty="0">
                <a:solidFill>
                  <a:schemeClr val="tx1"/>
                </a:solidFill>
              </a:rPr>
              <a:t>Inputs are independent and uniform; field data is correlated and time-dependent.</a:t>
            </a:r>
            <a:endParaRPr lang="en-US" sz="1800" dirty="0"/>
          </a:p>
          <a:p>
            <a:pPr marL="342900" indent="-342900">
              <a:spcAft>
                <a:spcPts val="1400"/>
              </a:spcAft>
              <a:buSzPct val="100000"/>
              <a:buChar char="•"/>
            </a:pPr>
            <a:r>
              <a:rPr lang="en-US" sz="1800" dirty="0">
                <a:solidFill>
                  <a:schemeClr val="tx1"/>
                </a:solidFill>
              </a:rPr>
              <a:t>Importance rankings reflect the coefficients we chose.</a:t>
            </a:r>
            <a:endParaRPr lang="en-US" sz="1800" dirty="0"/>
          </a:p>
          <a:p>
            <a:pPr marL="342900" indent="-342900">
              <a:spcAft>
                <a:spcPts val="1400"/>
              </a:spcAft>
              <a:buSzPct val="100000"/>
              <a:buChar char="•"/>
            </a:pPr>
            <a:r>
              <a:rPr lang="en-US" sz="1800" dirty="0">
                <a:solidFill>
                  <a:schemeClr val="tx1"/>
                </a:solidFill>
              </a:rPr>
              <a:t>Generalisation to other sites was not tested.</a:t>
            </a:r>
            <a:endParaRPr lang="en-US" sz="1800" dirty="0"/>
          </a:p>
        </p:txBody>
      </p:sp>
      <p:sp>
        <p:nvSpPr>
          <p:cNvPr id="5" name="Text 3"/>
          <p:cNvSpPr txBox="1"/>
          <p:nvPr/>
        </p:nvSpPr>
        <p:spPr>
          <a:xfrm>
            <a:off x="6263640" y="1554480"/>
            <a:ext cx="5303520" cy="411480"/>
          </a:xfrm>
          <a:prstGeom prst="rect">
            <a:avLst/>
          </a:prstGeom>
          <a:noFill/>
          <a:ln/>
        </p:spPr>
        <p:txBody>
          <a:bodyPr wrap="square" lIns="0" tIns="0" rIns="0" bIns="0" rtlCol="0" anchor="t"/>
          <a:lstStyle/>
          <a:p>
            <a:pPr marL="0" indent="0">
              <a:buNone/>
            </a:pPr>
            <a:r>
              <a:rPr lang="en-US" sz="2200" b="1" dirty="0">
                <a:solidFill>
                  <a:schemeClr val="accent1"/>
                </a:solidFill>
                <a:latin typeface="Cambria" pitchFamily="34" charset="0"/>
                <a:ea typeface="Cambria" pitchFamily="34" charset="-122"/>
                <a:cs typeface="Cambria" pitchFamily="34" charset="-120"/>
              </a:rPr>
              <a:t>Next steps</a:t>
            </a:r>
            <a:endParaRPr lang="en-US" sz="2200" dirty="0"/>
          </a:p>
        </p:txBody>
      </p:sp>
      <p:sp>
        <p:nvSpPr>
          <p:cNvPr id="6" name="Text 4"/>
          <p:cNvSpPr txBox="1"/>
          <p:nvPr/>
        </p:nvSpPr>
        <p:spPr>
          <a:xfrm>
            <a:off x="6263640" y="2148840"/>
            <a:ext cx="5303520" cy="384048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chemeClr val="tx1"/>
                </a:solidFill>
              </a:rPr>
              <a:t>Run the same pipeline on real field data.</a:t>
            </a:r>
            <a:endParaRPr lang="en-US" sz="1800" dirty="0"/>
          </a:p>
          <a:p>
            <a:pPr marL="342900" indent="-342900">
              <a:spcAft>
                <a:spcPts val="1400"/>
              </a:spcAft>
              <a:buSzPct val="100000"/>
              <a:buChar char="•"/>
            </a:pPr>
            <a:r>
              <a:rPr lang="en-US" sz="1800" dirty="0">
                <a:solidFill>
                  <a:schemeClr val="tx1"/>
                </a:solidFill>
              </a:rPr>
              <a:t>Add correlated inputs and heavier noise.</a:t>
            </a:r>
            <a:endParaRPr lang="en-US" sz="1800" dirty="0"/>
          </a:p>
          <a:p>
            <a:pPr marL="342900" indent="-342900">
              <a:spcAft>
                <a:spcPts val="1400"/>
              </a:spcAft>
              <a:buSzPct val="100000"/>
              <a:buChar char="•"/>
            </a:pPr>
            <a:r>
              <a:rPr lang="en-US" sz="1800" dirty="0">
                <a:solidFill>
                  <a:schemeClr val="tx1"/>
                </a:solidFill>
              </a:rPr>
              <a:t>Widen the SVR grid (lower C for σ²).</a:t>
            </a:r>
            <a:endParaRPr lang="en-US" sz="1800" dirty="0"/>
          </a:p>
          <a:p>
            <a:pPr marL="342900" indent="-342900">
              <a:spcAft>
                <a:spcPts val="1400"/>
              </a:spcAft>
              <a:buSzPct val="100000"/>
              <a:buChar char="•"/>
            </a:pPr>
            <a:r>
              <a:rPr lang="en-US" sz="1800" dirty="0">
                <a:solidFill>
                  <a:schemeClr val="tx1"/>
                </a:solidFill>
              </a:rPr>
              <a:t>Test cross-site generalisation, as the paper proposes.</a:t>
            </a:r>
            <a:endParaRPr lang="en-US" sz="1800" dirty="0"/>
          </a:p>
        </p:txBody>
      </p:sp>
      <p:sp>
        <p:nvSpPr>
          <p:cNvPr id="25" name="Slide Number Placeholder 0"/>
          <p:cNvSpPr>
            <a:spLocks noGrp="1"/>
          </p:cNvSpPr>
          <p:nvPr>
            <p:ph type="sldNum" sz="quarter" idx="4294967295"/>
          </p:nvPr>
        </p:nvSpPr>
        <p:spPr>
          <a:xfrm>
            <a:off x="11045952"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822960" y="2011680"/>
            <a:ext cx="10424160" cy="1737360"/>
          </a:xfrm>
          <a:prstGeom prst="rect">
            <a:avLst/>
          </a:prstGeom>
          <a:noFill/>
          <a:ln/>
        </p:spPr>
        <p:txBody>
          <a:bodyPr wrap="square" lIns="0" tIns="0" rIns="0" bIns="0" rtlCol="0" anchor="b"/>
          <a:lstStyle/>
          <a:p>
            <a:pPr marL="0" indent="0" algn="l">
              <a:buNone/>
            </a:pPr>
            <a:r>
              <a:rPr lang="en-US" sz="4400" b="1" dirty="0">
                <a:solidFill>
                  <a:schemeClr val="bg1"/>
                </a:solidFill>
              </a:rPr>
              <a:t>Demo and Q&amp;A</a:t>
            </a:r>
            <a:endParaRPr lang="en-US" sz="4400" dirty="0"/>
          </a:p>
        </p:txBody>
      </p:sp>
      <p:sp>
        <p:nvSpPr>
          <p:cNvPr id="3" name="Text 1"/>
          <p:cNvSpPr>
            <a:spLocks noGrp="1"/>
          </p:cNvSpPr>
          <p:nvPr>
            <p:ph type="body" idx="102" hasCustomPrompt="1"/>
          </p:nvPr>
        </p:nvSpPr>
        <p:spPr>
          <a:xfrm>
            <a:off x="822960" y="4023360"/>
            <a:ext cx="10424160" cy="1463040"/>
          </a:xfrm>
          <a:prstGeom prst="rect">
            <a:avLst/>
          </a:prstGeom>
          <a:noFill/>
          <a:ln/>
        </p:spPr>
        <p:txBody>
          <a:bodyPr wrap="square" lIns="0" tIns="0" rIns="0" bIns="0" rtlCol="0" anchor="t"/>
          <a:lstStyle/>
          <a:p>
            <a:pPr marL="0" indent="0" algn="l">
              <a:spcAft>
                <a:spcPts val="800"/>
              </a:spcAft>
              <a:buNone/>
            </a:pPr>
            <a:r>
              <a:rPr lang="en-US" sz="1800" b="1" dirty="0">
                <a:solidFill>
                  <a:srgbClr val="FFFFFF"/>
                </a:solidFill>
              </a:rPr>
              <a:t>github.com/ArundhathiK29/ml-sediment-mini-project</a:t>
            </a:r>
            <a:endParaRPr lang="en-US" sz="1800" dirty="0"/>
          </a:p>
          <a:p>
            <a:pPr marL="0" indent="0" algn="l">
              <a:spcAft>
                <a:spcPts val="800"/>
              </a:spcAft>
              <a:buNone/>
            </a:pPr>
            <a:r>
              <a:rPr lang="en-US" sz="1800" dirty="0">
                <a:solidFill>
                  <a:schemeClr val="accent4"/>
                </a:solidFill>
              </a:rPr>
              <a:t>pip install -r requirements.txt</a:t>
            </a:r>
            <a:endParaRPr lang="en-US" sz="1800" dirty="0"/>
          </a:p>
          <a:p>
            <a:pPr marL="0" indent="0" algn="l">
              <a:spcAft>
                <a:spcPts val="800"/>
              </a:spcAft>
              <a:buNone/>
            </a:pPr>
            <a:r>
              <a:rPr lang="en-US" sz="1800" dirty="0">
                <a:solidFill>
                  <a:schemeClr val="accent4"/>
                </a:solidFill>
              </a:rPr>
              <a:t>jupyter notebook ml_mini_project.ipynb  →  Restart &amp; Run All</a:t>
            </a:r>
            <a:endParaRPr lang="en-US" sz="1800" dirty="0"/>
          </a:p>
        </p:txBody>
      </p:sp>
    </p:spTree>
  </p:cSld>
  <p:clrMapOvr>
    <a:masterClrMapping/>
  </p:clrMapOvr>
</p:sld>
</file>

<file path=ppt/theme/theme1.xml><?xml version="1.0" encoding="utf-8"?>
<a:theme xmlns:a="http://schemas.openxmlformats.org/drawingml/2006/main" name="Sediment">
  <a:themeElements>
    <a:clrScheme name="Sediment">
      <a:dk1>
        <a:srgbClr val="1B2A38"/>
      </a:dk1>
      <a:lt1>
        <a:srgbClr val="FFFFFF"/>
      </a:lt1>
      <a:dk2>
        <a:srgbClr val="12263A"/>
      </a:dk2>
      <a:lt2>
        <a:srgbClr val="EEF3F6"/>
      </a:lt2>
      <a:accent1>
        <a:srgbClr val="1F7A8C"/>
      </a:accent1>
      <a:accent2>
        <a:srgbClr val="D1603D"/>
      </a:accent2>
      <a:accent3>
        <a:srgbClr val="8FA3B5"/>
      </a:accent3>
      <a:accent4>
        <a:srgbClr val="BFD7DB"/>
      </a:accent4>
      <a:accent5>
        <a:srgbClr val="5B6B7A"/>
      </a:accent5>
      <a:accent6>
        <a:srgbClr val="3E8E7E"/>
      </a:accent6>
      <a:hlink>
        <a:srgbClr val="1F7A8C"/>
      </a:hlink>
      <a:folHlink>
        <a:srgbClr val="5B6B7A"/>
      </a:folHlink>
    </a:clrScheme>
    <a:fontScheme name="Sedimen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1485</Words>
  <Application>Microsoft Office PowerPoint</Application>
  <PresentationFormat>Widescreen</PresentationFormat>
  <Paragraphs>176</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Sediment</vt:lpstr>
      <vt:lpstr>Predicting Sediment Particle Size Distributions with Machine Learning</vt:lpstr>
      <vt:lpstr>Settling models need particle size</vt:lpstr>
      <vt:lpstr>A synthetic stand-in for the field data</vt:lpstr>
      <vt:lpstr>Salinity and temperature drive both targets</vt:lpstr>
      <vt:lpstr>Five steps, test set touched only once</vt:lpstr>
      <vt:lpstr>Four features carry almost all the signal</vt:lpstr>
      <vt:lpstr>Tuning: 100 trees, small SVR grid</vt:lpstr>
      <vt:lpstr>SVR edges out RF, both near the ceiling</vt:lpstr>
      <vt:lpstr>Predictions track the true values</vt:lpstr>
      <vt:lpstr>What the results tell us</vt:lpstr>
      <vt:lpstr>Limitations and next steps</vt:lpstr>
      <vt:lpstr>Demo and Q&amp;A</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Sediment Particle Size Distributions with ML</dc:title>
  <dc:subject>PptxGenJS Presentation</dc:subject>
  <dc:creator>PptxGenJS</dc:creator>
  <cp:lastModifiedBy>Arnav chaudhary</cp:lastModifiedBy>
  <cp:revision>3</cp:revision>
  <dcterms:created xsi:type="dcterms:W3CDTF">2026-10-22T05:48:56Z</dcterms:created>
  <dcterms:modified xsi:type="dcterms:W3CDTF">2026-10-26T08:38:18Z</dcterms:modified>
</cp:coreProperties>
</file>